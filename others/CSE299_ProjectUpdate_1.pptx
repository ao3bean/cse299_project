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Inclusive Sans"/>
      <p:regular r:id="rId21"/>
      <p:bold r:id="rId22"/>
      <p:italic r:id="rId23"/>
      <p:boldItalic r:id="rId24"/>
    </p:embeddedFont>
    <p:embeddedFont>
      <p:font typeface="Lexend Light"/>
      <p:regular r:id="rId25"/>
      <p:bold r:id="rId26"/>
    </p:embeddedFont>
    <p:embeddedFont>
      <p:font typeface="Nunito"/>
      <p:regular r:id="rId27"/>
      <p:bold r:id="rId28"/>
      <p:italic r:id="rId29"/>
      <p:boldItalic r:id="rId30"/>
    </p:embeddedFont>
    <p:embeddedFont>
      <p:font typeface="Maven Pro SemiBold"/>
      <p:regular r:id="rId31"/>
      <p:bold r:id="rId32"/>
    </p:embeddedFont>
    <p:embeddedFont>
      <p:font typeface="Instrument Sans SemiBold"/>
      <p:regular r:id="rId33"/>
      <p:bold r:id="rId34"/>
      <p:italic r:id="rId35"/>
      <p:boldItalic r:id="rId36"/>
    </p:embeddedFont>
    <p:embeddedFont>
      <p:font typeface="Maven Pro"/>
      <p:regular r:id="rId37"/>
      <p:bold r:id="rId38"/>
    </p:embeddedFont>
    <p:embeddedFont>
      <p:font typeface="Instrument Sans"/>
      <p:regular r:id="rId39"/>
      <p:bold r:id="rId40"/>
      <p:italic r:id="rId41"/>
      <p:boldItalic r:id="rId42"/>
    </p:embeddedFont>
    <p:embeddedFont>
      <p:font typeface="Outfit SemiBold"/>
      <p:regular r:id="rId43"/>
      <p:bold r:id="rId44"/>
    </p:embeddedFont>
    <p:embeddedFont>
      <p:font typeface="Lexend"/>
      <p:regular r:id="rId45"/>
      <p:bold r:id="rId46"/>
    </p:embeddedFont>
    <p:embeddedFont>
      <p:font typeface="Martel"/>
      <p:regular r:id="rId47"/>
      <p:bold r:id="rId48"/>
    </p:embeddedFont>
    <p:embeddedFont>
      <p:font typeface="Lato"/>
      <p:regular r:id="rId49"/>
      <p:bold r:id="rId50"/>
      <p:italic r:id="rId51"/>
      <p:boldItalic r:id="rId52"/>
    </p:embeddedFont>
    <p:embeddedFont>
      <p:font typeface="Outfit"/>
      <p:regular r:id="rId53"/>
      <p:bold r:id="rId54"/>
    </p:embeddedFont>
    <p:embeddedFont>
      <p:font typeface="Outfit Medium"/>
      <p:regular r:id="rId55"/>
      <p:bold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strumentSans-bold.fntdata"/><Relationship Id="rId42" Type="http://schemas.openxmlformats.org/officeDocument/2006/relationships/font" Target="fonts/InstrumentSans-boldItalic.fntdata"/><Relationship Id="rId41" Type="http://schemas.openxmlformats.org/officeDocument/2006/relationships/font" Target="fonts/InstrumentSans-italic.fntdata"/><Relationship Id="rId44" Type="http://schemas.openxmlformats.org/officeDocument/2006/relationships/font" Target="fonts/OutfitSemiBold-bold.fntdata"/><Relationship Id="rId43" Type="http://schemas.openxmlformats.org/officeDocument/2006/relationships/font" Target="fonts/OutfitSemiBold-regular.fntdata"/><Relationship Id="rId46" Type="http://schemas.openxmlformats.org/officeDocument/2006/relationships/font" Target="fonts/Lexend-bold.fntdata"/><Relationship Id="rId45" Type="http://schemas.openxmlformats.org/officeDocument/2006/relationships/font" Target="fonts/Lexen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Martel-bold.fntdata"/><Relationship Id="rId47" Type="http://schemas.openxmlformats.org/officeDocument/2006/relationships/font" Target="fonts/Martel-regular.fntdata"/><Relationship Id="rId49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avenProSemiBold-regular.fntdata"/><Relationship Id="rId30" Type="http://schemas.openxmlformats.org/officeDocument/2006/relationships/font" Target="fonts/Nunito-boldItalic.fntdata"/><Relationship Id="rId33" Type="http://schemas.openxmlformats.org/officeDocument/2006/relationships/font" Target="fonts/InstrumentSansSemiBold-regular.fntdata"/><Relationship Id="rId32" Type="http://schemas.openxmlformats.org/officeDocument/2006/relationships/font" Target="fonts/MavenProSemiBold-bold.fntdata"/><Relationship Id="rId35" Type="http://schemas.openxmlformats.org/officeDocument/2006/relationships/font" Target="fonts/InstrumentSansSemiBold-italic.fntdata"/><Relationship Id="rId34" Type="http://schemas.openxmlformats.org/officeDocument/2006/relationships/font" Target="fonts/InstrumentSansSemiBold-bold.fntdata"/><Relationship Id="rId37" Type="http://schemas.openxmlformats.org/officeDocument/2006/relationships/font" Target="fonts/MavenPro-regular.fntdata"/><Relationship Id="rId36" Type="http://schemas.openxmlformats.org/officeDocument/2006/relationships/font" Target="fonts/InstrumentSansSemiBold-boldItalic.fntdata"/><Relationship Id="rId39" Type="http://schemas.openxmlformats.org/officeDocument/2006/relationships/font" Target="fonts/InstrumentSans-regular.fntdata"/><Relationship Id="rId38" Type="http://schemas.openxmlformats.org/officeDocument/2006/relationships/font" Target="fonts/MavenPro-bold.fntdata"/><Relationship Id="rId20" Type="http://schemas.openxmlformats.org/officeDocument/2006/relationships/slide" Target="slides/slide15.xml"/><Relationship Id="rId22" Type="http://schemas.openxmlformats.org/officeDocument/2006/relationships/font" Target="fonts/InclusiveSans-bold.fntdata"/><Relationship Id="rId21" Type="http://schemas.openxmlformats.org/officeDocument/2006/relationships/font" Target="fonts/InclusiveSans-regular.fntdata"/><Relationship Id="rId24" Type="http://schemas.openxmlformats.org/officeDocument/2006/relationships/font" Target="fonts/InclusiveSans-boldItalic.fntdata"/><Relationship Id="rId23" Type="http://schemas.openxmlformats.org/officeDocument/2006/relationships/font" Target="fonts/InclusiveSans-italic.fntdata"/><Relationship Id="rId26" Type="http://schemas.openxmlformats.org/officeDocument/2006/relationships/font" Target="fonts/LexendLight-bold.fntdata"/><Relationship Id="rId25" Type="http://schemas.openxmlformats.org/officeDocument/2006/relationships/font" Target="fonts/LexendLight-regular.fntdata"/><Relationship Id="rId28" Type="http://schemas.openxmlformats.org/officeDocument/2006/relationships/font" Target="fonts/Nunito-bold.fntdata"/><Relationship Id="rId27" Type="http://schemas.openxmlformats.org/officeDocument/2006/relationships/font" Target="fonts/Nunito-regular.fntdata"/><Relationship Id="rId29" Type="http://schemas.openxmlformats.org/officeDocument/2006/relationships/font" Target="fonts/Nunito-italic.fntdata"/><Relationship Id="rId51" Type="http://schemas.openxmlformats.org/officeDocument/2006/relationships/font" Target="fonts/Lato-italic.fntdata"/><Relationship Id="rId50" Type="http://schemas.openxmlformats.org/officeDocument/2006/relationships/font" Target="fonts/Lato-bold.fntdata"/><Relationship Id="rId53" Type="http://schemas.openxmlformats.org/officeDocument/2006/relationships/font" Target="fonts/Outfit-regular.fntdata"/><Relationship Id="rId52" Type="http://schemas.openxmlformats.org/officeDocument/2006/relationships/font" Target="fonts/Lato-boldItalic.fntdata"/><Relationship Id="rId11" Type="http://schemas.openxmlformats.org/officeDocument/2006/relationships/slide" Target="slides/slide6.xml"/><Relationship Id="rId55" Type="http://schemas.openxmlformats.org/officeDocument/2006/relationships/font" Target="fonts/OutfitMedium-regular.fntdata"/><Relationship Id="rId10" Type="http://schemas.openxmlformats.org/officeDocument/2006/relationships/slide" Target="slides/slide5.xml"/><Relationship Id="rId54" Type="http://schemas.openxmlformats.org/officeDocument/2006/relationships/font" Target="fonts/Outfi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schemas.openxmlformats.org/officeDocument/2006/relationships/font" Target="fonts/OutfitMedium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bd4044105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8" name="Google Shape;438;g3bd40441052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6e31190bc25a337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6e31190bc25a337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6e31190bc25a337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6e31190bc25a337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bf54609e9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bf54609e9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12ad5f351d94aa7a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12ad5f351d94aa7a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bf54609e9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bf54609e9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bf54609e9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bf54609e9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bf54609e9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bf54609e9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bf54609e9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bf54609e9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bf54609e9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bf54609e9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bf54609e9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bf54609e9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bf54609e9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bf54609e9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bf54609e9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bf54609e9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bf54609e9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bf54609e9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bf54609e9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bf54609e9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" name="Google Shape;15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6" name="Google Shape;16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" name="Google Shape;19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5" name="Google Shape;25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0" name="Google Shape;30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1" name="Google Shape;31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3" name="Google Shape;33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4" name="Google Shape;34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7" name="Google Shape;37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" name="Google Shape;38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1" name="Google Shape;41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2" name="Google Shape;52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3" name="Google Shape;53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5" name="Google Shape;55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6" name="Google Shape;56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60" name="Google Shape;60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4" name="Google Shape;64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5" name="Google Shape;65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6" name="Google Shape;66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8" name="Google Shape;68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9" name="Google Shape;69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" name="Google Shape;72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3" name="Google Shape;73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3" name="Google Shape;83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7" name="Google Shape;87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1" name="Google Shape;91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4" name="Google Shape;94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" name="Google Shape;96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2" name="Google Shape;102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" name="Google Shape;105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8" name="Google Shape;108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2" name="Google Shape;112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5" name="Google Shape;115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9" name="Google Shape;119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20" name="Google Shape;120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3" name="Google Shape;123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6" name="Google Shape;126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30" name="Google Shape;130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" name="Google Shape;132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" name="Google Shape;133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4" name="Google Shape;134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5" name="Google Shape;135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8" name="Google Shape;138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" name="Google Shape;140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1" name="Google Shape;141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4" name="Google Shape;144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5" name="Google Shape;14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9" name="Google Shape;149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50" name="Google Shape;15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5" name="Google Shape;155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6" name="Google Shape;156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0" name="Google Shape;160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1" name="Google Shape;161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4" name="Google Shape;164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5" name="Google Shape;165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" name="Google Shape;169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0" name="Google Shape;170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1" name="Google Shape;171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5" name="Google Shape;175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6" name="Google Shape;176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9" name="Google Shape;179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80" name="Google Shape;180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5" name="Google Shape;185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6" name="Google Shape;186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0" name="Google Shape;190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1" name="Google Shape;191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5" name="Google Shape;195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6" name="Google Shape;196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9" name="Google Shape;199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200" name="Google Shape;200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4" name="Google Shape;204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5" name="Google Shape;205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9" name="Google Shape;209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10" name="Google Shape;210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5" name="Google Shape;215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6" name="Google Shape;216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0" name="Google Shape;220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1" name="Google Shape;221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4" name="Google Shape;224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5" name="Google Shape;225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9" name="Google Shape;229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30" name="Google Shape;230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5" name="Google Shape;235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6" name="Google Shape;236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0" name="Google Shape;240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1" name="Google Shape;241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4" name="Google Shape;244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5" name="Google Shape;245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0" name="Google Shape;250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1" name="Google Shape;251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5" name="Google Shape;255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6" name="Google Shape;256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0" name="Google Shape;260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1" name="Google Shape;261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4" name="Google Shape;264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5" name="Google Shape;265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9" name="Google Shape;269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0" name="Google Shape;270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1" name="Google Shape;271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with header">
  <p:cSld name="CUSTOM_1_1_1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p13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276" name="Google Shape;276;p13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7" name="Google Shape;277;p13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8" name="Google Shape;278;p13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79" name="Google Shape;279;p13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0" name="Google Shape;280;p13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1" name="Google Shape;281;p13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2" name="Google Shape;282;p13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3" name="Google Shape;283;p13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4" name="Google Shape;284;p13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5" name="Google Shape;285;p13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6" name="Google Shape;286;p13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7" name="Google Shape;287;p13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8" name="Google Shape;288;p13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89" name="Google Shape;289;p13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0" name="Google Shape;290;p13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1" name="Google Shape;291;p13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2" name="Google Shape;292;p13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3" name="Google Shape;293;p13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4" name="Google Shape;294;p13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5" name="Google Shape;295;p13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6" name="Google Shape;296;p13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7" name="Google Shape;297;p13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8" name="Google Shape;298;p13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9" name="Google Shape;299;p13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0" name="Google Shape;300;p13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1" name="Google Shape;301;p13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3" name="Google Shape;303;p13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4" name="Google Shape;304;p13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5" name="Google Shape;305;p13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6" name="Google Shape;306;p13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7" name="Google Shape;307;p13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8" name="Google Shape;308;p13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09" name="Google Shape;309;p13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0" name="Google Shape;310;p13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1" name="Google Shape;311;p13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2" name="Google Shape;312;p13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3" name="Google Shape;313;p13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4" name="Google Shape;314;p13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5" name="Google Shape;315;p13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6" name="Google Shape;316;p13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7" name="Google Shape;317;p13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8" name="Google Shape;318;p13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19" name="Google Shape;319;p13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0" name="Google Shape;320;p13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1" name="Google Shape;321;p13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2" name="Google Shape;322;p13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3" name="Google Shape;323;p13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4" name="Google Shape;324;p13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5" name="Google Shape;325;p13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6" name="Google Shape;326;p13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7" name="Google Shape;327;p13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8" name="Google Shape;328;p13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29" name="Google Shape;329;p13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0" name="Google Shape;330;p13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1" name="Google Shape;331;p13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2" name="Google Shape;332;p13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3" name="Google Shape;333;p13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34" name="Google Shape;334;p13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335" name="Google Shape;335;p13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3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337" name="Google Shape;337;p13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8" name="Google Shape;338;p13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9" name="Google Shape;339;p13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0" name="Google Shape;340;p13"/>
          <p:cNvSpPr txBox="1"/>
          <p:nvPr>
            <p:ph idx="4" type="subTitle"/>
          </p:nvPr>
        </p:nvSpPr>
        <p:spPr>
          <a:xfrm>
            <a:off x="516425" y="2548200"/>
            <a:ext cx="3736200" cy="12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1" name="Google Shape;341;p13"/>
          <p:cNvSpPr txBox="1"/>
          <p:nvPr>
            <p:ph idx="5" type="subTitle"/>
          </p:nvPr>
        </p:nvSpPr>
        <p:spPr>
          <a:xfrm>
            <a:off x="5128850" y="2548200"/>
            <a:ext cx="3679500" cy="12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2" name="Google Shape;342;p13"/>
          <p:cNvSpPr txBox="1"/>
          <p:nvPr>
            <p:ph type="title"/>
          </p:nvPr>
        </p:nvSpPr>
        <p:spPr>
          <a:xfrm>
            <a:off x="209775" y="468575"/>
            <a:ext cx="6048900" cy="14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3">
  <p:cSld name="CUSTOM_10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 txBox="1"/>
          <p:nvPr>
            <p:ph idx="1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120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45" name="Google Shape;345;p14"/>
          <p:cNvSpPr txBox="1"/>
          <p:nvPr>
            <p:ph idx="2" type="body"/>
          </p:nvPr>
        </p:nvSpPr>
        <p:spPr>
          <a:xfrm>
            <a:off x="4223075" y="3141232"/>
            <a:ext cx="2787600" cy="1223700"/>
          </a:xfrm>
          <a:prstGeom prst="rect">
            <a:avLst/>
          </a:prstGeom>
        </p:spPr>
        <p:txBody>
          <a:bodyPr anchorCtr="0" anchor="t" bIns="182875" lIns="164575" spcFirstLastPara="1" rIns="1645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12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12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12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12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1200"/>
              </a:spcBef>
              <a:spcAft>
                <a:spcPts val="12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46" name="Google Shape;346;p14"/>
          <p:cNvSpPr txBox="1"/>
          <p:nvPr>
            <p:ph type="title"/>
          </p:nvPr>
        </p:nvSpPr>
        <p:spPr>
          <a:xfrm>
            <a:off x="4223075" y="2623350"/>
            <a:ext cx="2443500" cy="409500"/>
          </a:xfrm>
          <a:prstGeom prst="rect">
            <a:avLst/>
          </a:prstGeom>
        </p:spPr>
        <p:txBody>
          <a:bodyPr anchorCtr="0" anchor="t" bIns="0" lIns="164575" spcFirstLastPara="1" rIns="0" wrap="square" tIns="16457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47" name="Google Shape;347;p14"/>
          <p:cNvSpPr/>
          <p:nvPr>
            <p:ph idx="3" type="pic"/>
          </p:nvPr>
        </p:nvSpPr>
        <p:spPr>
          <a:xfrm>
            <a:off x="1901125" y="476725"/>
            <a:ext cx="383700" cy="39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8" name="Google Shape;348;p14"/>
          <p:cNvSpPr txBox="1"/>
          <p:nvPr>
            <p:ph idx="4" type="title"/>
          </p:nvPr>
        </p:nvSpPr>
        <p:spPr>
          <a:xfrm>
            <a:off x="3072075" y="282900"/>
            <a:ext cx="5787300" cy="2112300"/>
          </a:xfrm>
          <a:prstGeom prst="rect">
            <a:avLst/>
          </a:prstGeom>
        </p:spPr>
        <p:txBody>
          <a:bodyPr anchorCtr="0" anchor="t" bIns="0" lIns="182875" spcFirstLastPara="1" rIns="182875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/>
        </p:txBody>
      </p:sp>
      <p:sp>
        <p:nvSpPr>
          <p:cNvPr id="349" name="Google Shape;349;p14"/>
          <p:cNvSpPr txBox="1"/>
          <p:nvPr>
            <p:ph idx="5" type="title"/>
          </p:nvPr>
        </p:nvSpPr>
        <p:spPr>
          <a:xfrm>
            <a:off x="1731400" y="3856304"/>
            <a:ext cx="1616100" cy="78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350" name="Google Shape;350;p14"/>
          <p:cNvSpPr txBox="1"/>
          <p:nvPr>
            <p:ph idx="6" type="title"/>
          </p:nvPr>
        </p:nvSpPr>
        <p:spPr>
          <a:xfrm>
            <a:off x="7116525" y="2623350"/>
            <a:ext cx="1742400" cy="409500"/>
          </a:xfrm>
          <a:prstGeom prst="rect">
            <a:avLst/>
          </a:prstGeom>
        </p:spPr>
        <p:txBody>
          <a:bodyPr anchorCtr="0" anchor="t" bIns="0" lIns="164575" spcFirstLastPara="1" rIns="0" wrap="square" tIns="16457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1" sz="1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51" name="Google Shape;351;p14"/>
          <p:cNvSpPr txBox="1"/>
          <p:nvPr>
            <p:ph idx="7" type="body"/>
          </p:nvPr>
        </p:nvSpPr>
        <p:spPr>
          <a:xfrm>
            <a:off x="7116525" y="3141225"/>
            <a:ext cx="1742400" cy="1223700"/>
          </a:xfrm>
          <a:prstGeom prst="rect">
            <a:avLst/>
          </a:prstGeom>
        </p:spPr>
        <p:txBody>
          <a:bodyPr anchorCtr="0" anchor="t" bIns="182875" lIns="164575" spcFirstLastPara="1" rIns="1645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12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12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12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12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1200"/>
              </a:spcBef>
              <a:spcAft>
                <a:spcPts val="12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52" name="Google Shape;352;p14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353" name="Google Shape;353;p14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BLANK_1_1_1_1_1_1_1_1_1_1_1_1_1_1_3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5"/>
          <p:cNvSpPr txBox="1"/>
          <p:nvPr>
            <p:ph type="title"/>
          </p:nvPr>
        </p:nvSpPr>
        <p:spPr>
          <a:xfrm>
            <a:off x="1731400" y="435300"/>
            <a:ext cx="3510600" cy="111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56" name="Google Shape;356;p15"/>
          <p:cNvSpPr txBox="1"/>
          <p:nvPr>
            <p:ph idx="1" type="body"/>
          </p:nvPr>
        </p:nvSpPr>
        <p:spPr>
          <a:xfrm>
            <a:off x="5348925" y="779548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12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12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12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12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1200"/>
              </a:spcBef>
              <a:spcAft>
                <a:spcPts val="12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57" name="Google Shape;357;p15"/>
          <p:cNvSpPr txBox="1"/>
          <p:nvPr>
            <p:ph idx="2" type="title"/>
          </p:nvPr>
        </p:nvSpPr>
        <p:spPr>
          <a:xfrm>
            <a:off x="5348925" y="286031"/>
            <a:ext cx="3378900" cy="4308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358" name="Google Shape;358;p15"/>
          <p:cNvSpPr txBox="1"/>
          <p:nvPr>
            <p:ph idx="3" type="body"/>
          </p:nvPr>
        </p:nvSpPr>
        <p:spPr>
          <a:xfrm>
            <a:off x="5348925" y="2225851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12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12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12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12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12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1200"/>
              </a:spcBef>
              <a:spcAft>
                <a:spcPts val="12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59" name="Google Shape;359;p15"/>
          <p:cNvSpPr txBox="1"/>
          <p:nvPr>
            <p:ph idx="4" type="title"/>
          </p:nvPr>
        </p:nvSpPr>
        <p:spPr>
          <a:xfrm>
            <a:off x="5348925" y="1767224"/>
            <a:ext cx="3378900" cy="3957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360" name="Google Shape;360;p15"/>
          <p:cNvSpPr txBox="1"/>
          <p:nvPr>
            <p:ph idx="5" type="body"/>
          </p:nvPr>
        </p:nvSpPr>
        <p:spPr>
          <a:xfrm>
            <a:off x="5348925" y="3672155"/>
            <a:ext cx="3510600" cy="783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1200"/>
              </a:spcBef>
              <a:spcAft>
                <a:spcPts val="120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61" name="Google Shape;361;p15"/>
          <p:cNvSpPr txBox="1"/>
          <p:nvPr>
            <p:ph idx="6" type="title"/>
          </p:nvPr>
        </p:nvSpPr>
        <p:spPr>
          <a:xfrm>
            <a:off x="5348925" y="3251722"/>
            <a:ext cx="33789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/>
        </p:txBody>
      </p:sp>
      <p:sp>
        <p:nvSpPr>
          <p:cNvPr id="362" name="Google Shape;362;p15"/>
          <p:cNvSpPr txBox="1"/>
          <p:nvPr>
            <p:ph idx="7" type="subTitle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363" name="Google Shape;363;p15"/>
          <p:cNvSpPr txBox="1"/>
          <p:nvPr>
            <p:ph idx="8" type="subTitle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  <p:sp>
        <p:nvSpPr>
          <p:cNvPr id="364" name="Google Shape;364;p15"/>
          <p:cNvSpPr txBox="1"/>
          <p:nvPr>
            <p:ph idx="9" type="subTitle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ith header">
  <p:cSld name="CUSTOM_1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oogle Shape;366;p16"/>
          <p:cNvGrpSpPr/>
          <p:nvPr/>
        </p:nvGrpSpPr>
        <p:grpSpPr>
          <a:xfrm>
            <a:off x="-6096" y="-3429"/>
            <a:ext cx="9156192" cy="5150358"/>
            <a:chOff x="0" y="0"/>
            <a:chExt cx="12192000" cy="6858000"/>
          </a:xfrm>
        </p:grpSpPr>
        <p:sp>
          <p:nvSpPr>
            <p:cNvPr id="367" name="Google Shape;367;p16"/>
            <p:cNvSpPr/>
            <p:nvPr/>
          </p:nvSpPr>
          <p:spPr>
            <a:xfrm>
              <a:off x="0" y="6515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8" name="Google Shape;368;p16"/>
            <p:cNvSpPr/>
            <p:nvPr/>
          </p:nvSpPr>
          <p:spPr>
            <a:xfrm>
              <a:off x="0" y="6172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69" name="Google Shape;369;p16"/>
            <p:cNvSpPr/>
            <p:nvPr/>
          </p:nvSpPr>
          <p:spPr>
            <a:xfrm>
              <a:off x="0" y="5829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0" name="Google Shape;370;p16"/>
            <p:cNvSpPr/>
            <p:nvPr/>
          </p:nvSpPr>
          <p:spPr>
            <a:xfrm>
              <a:off x="0" y="5486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1" name="Google Shape;371;p16"/>
            <p:cNvSpPr/>
            <p:nvPr/>
          </p:nvSpPr>
          <p:spPr>
            <a:xfrm>
              <a:off x="0" y="5143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2" name="Google Shape;372;p16"/>
            <p:cNvSpPr/>
            <p:nvPr/>
          </p:nvSpPr>
          <p:spPr>
            <a:xfrm>
              <a:off x="0" y="4800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3" name="Google Shape;373;p16"/>
            <p:cNvSpPr/>
            <p:nvPr/>
          </p:nvSpPr>
          <p:spPr>
            <a:xfrm>
              <a:off x="0" y="4457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4" name="Google Shape;374;p16"/>
            <p:cNvSpPr/>
            <p:nvPr/>
          </p:nvSpPr>
          <p:spPr>
            <a:xfrm>
              <a:off x="0" y="4114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5" name="Google Shape;375;p16"/>
            <p:cNvSpPr/>
            <p:nvPr/>
          </p:nvSpPr>
          <p:spPr>
            <a:xfrm>
              <a:off x="0" y="3771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6" name="Google Shape;376;p16"/>
            <p:cNvSpPr/>
            <p:nvPr/>
          </p:nvSpPr>
          <p:spPr>
            <a:xfrm>
              <a:off x="0" y="34290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7" name="Google Shape;377;p16"/>
            <p:cNvSpPr/>
            <p:nvPr/>
          </p:nvSpPr>
          <p:spPr>
            <a:xfrm>
              <a:off x="0" y="30861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8" name="Google Shape;378;p16"/>
            <p:cNvSpPr/>
            <p:nvPr/>
          </p:nvSpPr>
          <p:spPr>
            <a:xfrm>
              <a:off x="0" y="27432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79" name="Google Shape;379;p16"/>
            <p:cNvSpPr/>
            <p:nvPr/>
          </p:nvSpPr>
          <p:spPr>
            <a:xfrm>
              <a:off x="0" y="24003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0" name="Google Shape;380;p16"/>
            <p:cNvSpPr/>
            <p:nvPr/>
          </p:nvSpPr>
          <p:spPr>
            <a:xfrm>
              <a:off x="0" y="20574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1" name="Google Shape;381;p16"/>
            <p:cNvSpPr/>
            <p:nvPr/>
          </p:nvSpPr>
          <p:spPr>
            <a:xfrm>
              <a:off x="0" y="17145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2" name="Google Shape;382;p16"/>
            <p:cNvSpPr/>
            <p:nvPr/>
          </p:nvSpPr>
          <p:spPr>
            <a:xfrm>
              <a:off x="0" y="13716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3" name="Google Shape;383;p16"/>
            <p:cNvSpPr/>
            <p:nvPr/>
          </p:nvSpPr>
          <p:spPr>
            <a:xfrm>
              <a:off x="0" y="10287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4" name="Google Shape;384;p16"/>
            <p:cNvSpPr/>
            <p:nvPr/>
          </p:nvSpPr>
          <p:spPr>
            <a:xfrm>
              <a:off x="0" y="6858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5" name="Google Shape;385;p16"/>
            <p:cNvSpPr/>
            <p:nvPr/>
          </p:nvSpPr>
          <p:spPr>
            <a:xfrm>
              <a:off x="0" y="342900"/>
              <a:ext cx="12192000" cy="6350"/>
            </a:xfrm>
            <a:custGeom>
              <a:rect b="b" l="l" r="r" t="t"/>
              <a:pathLst>
                <a:path extrusionOk="0" h="6350"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6" name="Google Shape;386;p16"/>
            <p:cNvSpPr/>
            <p:nvPr/>
          </p:nvSpPr>
          <p:spPr>
            <a:xfrm>
              <a:off x="118946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7" name="Google Shape;387;p16"/>
            <p:cNvSpPr/>
            <p:nvPr/>
          </p:nvSpPr>
          <p:spPr>
            <a:xfrm>
              <a:off x="1159725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8" name="Google Shape;388;p16"/>
            <p:cNvSpPr/>
            <p:nvPr/>
          </p:nvSpPr>
          <p:spPr>
            <a:xfrm>
              <a:off x="112998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89" name="Google Shape;389;p16"/>
            <p:cNvSpPr/>
            <p:nvPr/>
          </p:nvSpPr>
          <p:spPr>
            <a:xfrm>
              <a:off x="1100251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0" name="Google Shape;390;p16"/>
            <p:cNvSpPr/>
            <p:nvPr/>
          </p:nvSpPr>
          <p:spPr>
            <a:xfrm>
              <a:off x="107051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1" name="Google Shape;391;p16"/>
            <p:cNvSpPr/>
            <p:nvPr/>
          </p:nvSpPr>
          <p:spPr>
            <a:xfrm>
              <a:off x="1040777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2" name="Google Shape;392;p16"/>
            <p:cNvSpPr/>
            <p:nvPr/>
          </p:nvSpPr>
          <p:spPr>
            <a:xfrm>
              <a:off x="101104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3" name="Google Shape;393;p16"/>
            <p:cNvSpPr/>
            <p:nvPr/>
          </p:nvSpPr>
          <p:spPr>
            <a:xfrm>
              <a:off x="981309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4" name="Google Shape;394;p16"/>
            <p:cNvSpPr/>
            <p:nvPr/>
          </p:nvSpPr>
          <p:spPr>
            <a:xfrm>
              <a:off x="9515729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5" name="Google Shape;395;p16"/>
            <p:cNvSpPr/>
            <p:nvPr/>
          </p:nvSpPr>
          <p:spPr>
            <a:xfrm>
              <a:off x="921835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6" name="Google Shape;396;p16"/>
            <p:cNvSpPr/>
            <p:nvPr/>
          </p:nvSpPr>
          <p:spPr>
            <a:xfrm>
              <a:off x="8920988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7" name="Google Shape;397;p16"/>
            <p:cNvSpPr/>
            <p:nvPr/>
          </p:nvSpPr>
          <p:spPr>
            <a:xfrm>
              <a:off x="862361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8" name="Google Shape;398;p16"/>
            <p:cNvSpPr/>
            <p:nvPr/>
          </p:nvSpPr>
          <p:spPr>
            <a:xfrm>
              <a:off x="8326247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399" name="Google Shape;399;p16"/>
            <p:cNvSpPr/>
            <p:nvPr/>
          </p:nvSpPr>
          <p:spPr>
            <a:xfrm>
              <a:off x="80288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773150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1" name="Google Shape;401;p16"/>
            <p:cNvSpPr/>
            <p:nvPr/>
          </p:nvSpPr>
          <p:spPr>
            <a:xfrm>
              <a:off x="74341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2" name="Google Shape;402;p16"/>
            <p:cNvSpPr/>
            <p:nvPr/>
          </p:nvSpPr>
          <p:spPr>
            <a:xfrm>
              <a:off x="713676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3" name="Google Shape;403;p16"/>
            <p:cNvSpPr/>
            <p:nvPr/>
          </p:nvSpPr>
          <p:spPr>
            <a:xfrm>
              <a:off x="68393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4" name="Google Shape;404;p16"/>
            <p:cNvSpPr/>
            <p:nvPr/>
          </p:nvSpPr>
          <p:spPr>
            <a:xfrm>
              <a:off x="654202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5" name="Google Shape;405;p16"/>
            <p:cNvSpPr/>
            <p:nvPr/>
          </p:nvSpPr>
          <p:spPr>
            <a:xfrm>
              <a:off x="62446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6" name="Google Shape;406;p16"/>
            <p:cNvSpPr/>
            <p:nvPr/>
          </p:nvSpPr>
          <p:spPr>
            <a:xfrm>
              <a:off x="594734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7" name="Google Shape;407;p16"/>
            <p:cNvSpPr/>
            <p:nvPr/>
          </p:nvSpPr>
          <p:spPr>
            <a:xfrm>
              <a:off x="5649976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8" name="Google Shape;408;p16"/>
            <p:cNvSpPr/>
            <p:nvPr/>
          </p:nvSpPr>
          <p:spPr>
            <a:xfrm>
              <a:off x="535260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09" name="Google Shape;409;p16"/>
            <p:cNvSpPr/>
            <p:nvPr/>
          </p:nvSpPr>
          <p:spPr>
            <a:xfrm>
              <a:off x="5055235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0" name="Google Shape;410;p16"/>
            <p:cNvSpPr/>
            <p:nvPr/>
          </p:nvSpPr>
          <p:spPr>
            <a:xfrm>
              <a:off x="475786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1" name="Google Shape;411;p16"/>
            <p:cNvSpPr/>
            <p:nvPr/>
          </p:nvSpPr>
          <p:spPr>
            <a:xfrm>
              <a:off x="4460494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2" name="Google Shape;412;p16"/>
            <p:cNvSpPr/>
            <p:nvPr/>
          </p:nvSpPr>
          <p:spPr>
            <a:xfrm>
              <a:off x="41631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3" name="Google Shape;413;p16"/>
            <p:cNvSpPr/>
            <p:nvPr/>
          </p:nvSpPr>
          <p:spPr>
            <a:xfrm>
              <a:off x="386575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4" name="Google Shape;414;p16"/>
            <p:cNvSpPr/>
            <p:nvPr/>
          </p:nvSpPr>
          <p:spPr>
            <a:xfrm>
              <a:off x="35683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5" name="Google Shape;415;p16"/>
            <p:cNvSpPr/>
            <p:nvPr/>
          </p:nvSpPr>
          <p:spPr>
            <a:xfrm>
              <a:off x="327101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6" name="Google Shape;416;p16"/>
            <p:cNvSpPr/>
            <p:nvPr/>
          </p:nvSpPr>
          <p:spPr>
            <a:xfrm>
              <a:off x="29736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7" name="Google Shape;417;p16"/>
            <p:cNvSpPr/>
            <p:nvPr/>
          </p:nvSpPr>
          <p:spPr>
            <a:xfrm>
              <a:off x="267627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8" name="Google Shape;418;p16"/>
            <p:cNvSpPr/>
            <p:nvPr/>
          </p:nvSpPr>
          <p:spPr>
            <a:xfrm>
              <a:off x="237890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19" name="Google Shape;419;p16"/>
            <p:cNvSpPr/>
            <p:nvPr/>
          </p:nvSpPr>
          <p:spPr>
            <a:xfrm>
              <a:off x="208153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0" name="Google Shape;420;p16"/>
            <p:cNvSpPr/>
            <p:nvPr/>
          </p:nvSpPr>
          <p:spPr>
            <a:xfrm>
              <a:off x="1784223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1" name="Google Shape;421;p16"/>
            <p:cNvSpPr/>
            <p:nvPr/>
          </p:nvSpPr>
          <p:spPr>
            <a:xfrm>
              <a:off x="148685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2" name="Google Shape;422;p16"/>
            <p:cNvSpPr/>
            <p:nvPr/>
          </p:nvSpPr>
          <p:spPr>
            <a:xfrm>
              <a:off x="1189482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3" name="Google Shape;423;p16"/>
            <p:cNvSpPr/>
            <p:nvPr/>
          </p:nvSpPr>
          <p:spPr>
            <a:xfrm>
              <a:off x="89211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4" name="Google Shape;424;p16"/>
            <p:cNvSpPr/>
            <p:nvPr/>
          </p:nvSpPr>
          <p:spPr>
            <a:xfrm>
              <a:off x="594741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425" name="Google Shape;425;p16"/>
            <p:cNvSpPr/>
            <p:nvPr/>
          </p:nvSpPr>
          <p:spPr>
            <a:xfrm>
              <a:off x="297370" y="0"/>
              <a:ext cx="6350" cy="6858000"/>
            </a:xfrm>
            <a:custGeom>
              <a:rect b="b" l="l" r="r" t="t"/>
              <a:pathLst>
                <a:path extrusionOk="0" h="6858000" w="635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426" name="Google Shape;426;p16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6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8" name="Google Shape;428;p16"/>
          <p:cNvSpPr txBox="1"/>
          <p:nvPr>
            <p:ph type="title"/>
          </p:nvPr>
        </p:nvSpPr>
        <p:spPr>
          <a:xfrm>
            <a:off x="1579100" y="491225"/>
            <a:ext cx="4966200" cy="79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9" name="Google Shape;429;p16"/>
          <p:cNvSpPr txBox="1"/>
          <p:nvPr>
            <p:ph idx="1" type="body"/>
          </p:nvPr>
        </p:nvSpPr>
        <p:spPr>
          <a:xfrm>
            <a:off x="7895425" y="-39600"/>
            <a:ext cx="11385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30" name="Google Shape;430;p16"/>
          <p:cNvSpPr txBox="1"/>
          <p:nvPr>
            <p:ph idx="2" type="body"/>
          </p:nvPr>
        </p:nvSpPr>
        <p:spPr>
          <a:xfrm>
            <a:off x="167325" y="-39600"/>
            <a:ext cx="11697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●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○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Lexend"/>
              <a:buChar char="■"/>
              <a:defRPr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31" name="Google Shape;431;p16"/>
          <p:cNvSpPr txBox="1"/>
          <p:nvPr>
            <p:ph idx="3" type="body"/>
          </p:nvPr>
        </p:nvSpPr>
        <p:spPr>
          <a:xfrm>
            <a:off x="940775" y="-39600"/>
            <a:ext cx="38103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88">
          <p15:clr>
            <a:srgbClr val="E46962"/>
          </p15:clr>
        </p15:guide>
        <p15:guide id="2" orient="horz" pos="72">
          <p15:clr>
            <a:srgbClr val="E46962"/>
          </p15:clr>
        </p15:guide>
        <p15:guide id="3" orient="horz" pos="3168">
          <p15:clr>
            <a:srgbClr val="E46962"/>
          </p15:clr>
        </p15:guide>
        <p15:guide id="4" orient="horz" pos="720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CUSTOM_1_1_1_1_1_1_1_1_1_1_2_1_1_1_1_1_1_1_1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7"/>
          <p:cNvSpPr txBox="1"/>
          <p:nvPr/>
        </p:nvSpPr>
        <p:spPr>
          <a:xfrm>
            <a:off x="2209933" y="1792527"/>
            <a:ext cx="2542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434" name="Google Shape;434;p17"/>
          <p:cNvSpPr/>
          <p:nvPr/>
        </p:nvSpPr>
        <p:spPr>
          <a:xfrm>
            <a:off x="-6000" y="0"/>
            <a:ext cx="9156000" cy="22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7"/>
          <p:cNvSpPr/>
          <p:nvPr/>
        </p:nvSpPr>
        <p:spPr>
          <a:xfrm rot="5400000">
            <a:off x="82250" y="69300"/>
            <a:ext cx="104100" cy="900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72">
          <p15:clr>
            <a:srgbClr val="E46962"/>
          </p15:clr>
        </p15:guide>
        <p15:guide id="2" pos="5688">
          <p15:clr>
            <a:srgbClr val="E46962"/>
          </p15:clr>
        </p15:guide>
        <p15:guide id="3" orient="horz" pos="72">
          <p15:clr>
            <a:srgbClr val="E46962"/>
          </p15:clr>
        </p15:guide>
        <p15:guide id="4" orient="horz" pos="3168">
          <p15:clr>
            <a:srgbClr val="E46962"/>
          </p15:clr>
        </p15:guide>
        <p15:guide id="5" orient="horz" pos="72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167700" y="4625700"/>
            <a:ext cx="8664600" cy="356700"/>
          </a:xfrm>
          <a:prstGeom prst="rect">
            <a:avLst/>
          </a:prstGeom>
          <a:noFill/>
          <a:ln cap="flat" cmpd="sng" w="9525">
            <a:solidFill>
              <a:srgbClr val="073763"/>
            </a:solidFill>
            <a:prstDash val="dash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73763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Group 4 : Ananya Sarkar | Mahjabin Noor Nabila | Nazia Faruque Diya</a:t>
            </a:r>
            <a:endParaRPr>
              <a:solidFill>
                <a:srgbClr val="073763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7411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" name="Google Shape;440;p18"/>
          <p:cNvGrpSpPr/>
          <p:nvPr/>
        </p:nvGrpSpPr>
        <p:grpSpPr>
          <a:xfrm>
            <a:off x="514350" y="645125"/>
            <a:ext cx="1191641" cy="2122909"/>
            <a:chOff x="0" y="0"/>
            <a:chExt cx="380400" cy="798146"/>
          </a:xfrm>
        </p:grpSpPr>
        <p:sp>
          <p:nvSpPr>
            <p:cNvPr id="441" name="Google Shape;441;p18"/>
            <p:cNvSpPr/>
            <p:nvPr/>
          </p:nvSpPr>
          <p:spPr>
            <a:xfrm>
              <a:off x="0" y="0"/>
              <a:ext cx="380267" cy="798146"/>
            </a:xfrm>
            <a:custGeom>
              <a:rect b="b" l="l" r="r" t="t"/>
              <a:pathLst>
                <a:path extrusionOk="0" h="798146" w="380267">
                  <a:moveTo>
                    <a:pt x="133952" y="0"/>
                  </a:moveTo>
                  <a:lnTo>
                    <a:pt x="246314" y="0"/>
                  </a:lnTo>
                  <a:cubicBezTo>
                    <a:pt x="320294" y="0"/>
                    <a:pt x="380267" y="59972"/>
                    <a:pt x="380267" y="133952"/>
                  </a:cubicBezTo>
                  <a:lnTo>
                    <a:pt x="380267" y="664194"/>
                  </a:lnTo>
                  <a:cubicBezTo>
                    <a:pt x="380267" y="738174"/>
                    <a:pt x="320294" y="798146"/>
                    <a:pt x="246314" y="798146"/>
                  </a:cubicBezTo>
                  <a:lnTo>
                    <a:pt x="133952" y="798146"/>
                  </a:lnTo>
                  <a:cubicBezTo>
                    <a:pt x="59972" y="798146"/>
                    <a:pt x="0" y="738174"/>
                    <a:pt x="0" y="664194"/>
                  </a:cubicBezTo>
                  <a:lnTo>
                    <a:pt x="0" y="133952"/>
                  </a:lnTo>
                  <a:cubicBezTo>
                    <a:pt x="0" y="59972"/>
                    <a:pt x="59972" y="0"/>
                    <a:pt x="133952" y="0"/>
                  </a:cubicBezTo>
                  <a:close/>
                </a:path>
              </a:pathLst>
            </a:custGeom>
            <a:solidFill>
              <a:srgbClr val="90960F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18"/>
            <p:cNvSpPr txBox="1"/>
            <p:nvPr/>
          </p:nvSpPr>
          <p:spPr>
            <a:xfrm>
              <a:off x="0" y="104775"/>
              <a:ext cx="380400" cy="69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4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3" name="Google Shape;443;p18"/>
          <p:cNvSpPr/>
          <p:nvPr/>
        </p:nvSpPr>
        <p:spPr>
          <a:xfrm rot="-992090">
            <a:off x="4744446" y="96220"/>
            <a:ext cx="1825046" cy="1552948"/>
          </a:xfrm>
          <a:custGeom>
            <a:rect b="b" l="l" r="r" t="t"/>
            <a:pathLst>
              <a:path extrusionOk="0" h="3101519" w="3644948">
                <a:moveTo>
                  <a:pt x="0" y="0"/>
                </a:moveTo>
                <a:lnTo>
                  <a:pt x="3644948" y="0"/>
                </a:lnTo>
                <a:lnTo>
                  <a:pt x="3644948" y="3101519"/>
                </a:lnTo>
                <a:lnTo>
                  <a:pt x="0" y="310151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44" name="Google Shape;444;p18"/>
          <p:cNvGrpSpPr/>
          <p:nvPr/>
        </p:nvGrpSpPr>
        <p:grpSpPr>
          <a:xfrm>
            <a:off x="514350" y="1127970"/>
            <a:ext cx="6627761" cy="2869791"/>
            <a:chOff x="0" y="0"/>
            <a:chExt cx="2491827" cy="1078950"/>
          </a:xfrm>
        </p:grpSpPr>
        <p:sp>
          <p:nvSpPr>
            <p:cNvPr id="445" name="Google Shape;445;p18"/>
            <p:cNvSpPr/>
            <p:nvPr/>
          </p:nvSpPr>
          <p:spPr>
            <a:xfrm>
              <a:off x="0" y="0"/>
              <a:ext cx="2491827" cy="1078928"/>
            </a:xfrm>
            <a:custGeom>
              <a:rect b="b" l="l" r="r" t="t"/>
              <a:pathLst>
                <a:path extrusionOk="0" h="1078928" w="2491827">
                  <a:moveTo>
                    <a:pt x="20442" y="0"/>
                  </a:moveTo>
                  <a:lnTo>
                    <a:pt x="2471385" y="0"/>
                  </a:lnTo>
                  <a:cubicBezTo>
                    <a:pt x="2476807" y="0"/>
                    <a:pt x="2482006" y="2154"/>
                    <a:pt x="2485840" y="5987"/>
                  </a:cubicBezTo>
                  <a:cubicBezTo>
                    <a:pt x="2489673" y="9821"/>
                    <a:pt x="2491827" y="15020"/>
                    <a:pt x="2491827" y="20442"/>
                  </a:cubicBezTo>
                  <a:lnTo>
                    <a:pt x="2491827" y="1058487"/>
                  </a:lnTo>
                  <a:cubicBezTo>
                    <a:pt x="2491827" y="1063908"/>
                    <a:pt x="2489673" y="1069108"/>
                    <a:pt x="2485840" y="1072941"/>
                  </a:cubicBezTo>
                  <a:cubicBezTo>
                    <a:pt x="2482006" y="1076775"/>
                    <a:pt x="2476807" y="1078928"/>
                    <a:pt x="2471385" y="1078928"/>
                  </a:cubicBezTo>
                  <a:lnTo>
                    <a:pt x="20442" y="1078928"/>
                  </a:lnTo>
                  <a:cubicBezTo>
                    <a:pt x="15020" y="1078928"/>
                    <a:pt x="9821" y="1076775"/>
                    <a:pt x="5987" y="1072941"/>
                  </a:cubicBezTo>
                  <a:cubicBezTo>
                    <a:pt x="2154" y="1069108"/>
                    <a:pt x="0" y="1063908"/>
                    <a:pt x="0" y="1058487"/>
                  </a:cubicBezTo>
                  <a:lnTo>
                    <a:pt x="0" y="20442"/>
                  </a:lnTo>
                  <a:cubicBezTo>
                    <a:pt x="0" y="15020"/>
                    <a:pt x="2154" y="9821"/>
                    <a:pt x="5987" y="5987"/>
                  </a:cubicBezTo>
                  <a:cubicBezTo>
                    <a:pt x="9821" y="2154"/>
                    <a:pt x="15020" y="0"/>
                    <a:pt x="20442" y="0"/>
                  </a:cubicBezTo>
                  <a:close/>
                </a:path>
              </a:pathLst>
            </a:custGeom>
            <a:solidFill>
              <a:srgbClr val="FAEADD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8"/>
            <p:cNvSpPr txBox="1"/>
            <p:nvPr/>
          </p:nvSpPr>
          <p:spPr>
            <a:xfrm>
              <a:off x="0" y="133350"/>
              <a:ext cx="2491800" cy="94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58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7" name="Google Shape;447;p18"/>
          <p:cNvSpPr txBox="1"/>
          <p:nvPr/>
        </p:nvSpPr>
        <p:spPr>
          <a:xfrm>
            <a:off x="768038" y="1644037"/>
            <a:ext cx="42972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Arial"/>
              <a:buNone/>
            </a:pPr>
            <a:r>
              <a:rPr lang="en" sz="5500">
                <a:latin typeface="Martel"/>
                <a:ea typeface="Martel"/>
                <a:cs typeface="Martel"/>
                <a:sym typeface="Martel"/>
              </a:rPr>
              <a:t>Cadence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8"/>
          <p:cNvSpPr/>
          <p:nvPr/>
        </p:nvSpPr>
        <p:spPr>
          <a:xfrm rot="-800355">
            <a:off x="7722898" y="-794621"/>
            <a:ext cx="1330789" cy="2165486"/>
          </a:xfrm>
          <a:custGeom>
            <a:rect b="b" l="l" r="r" t="t"/>
            <a:pathLst>
              <a:path extrusionOk="0" h="4344460" w="2669868">
                <a:moveTo>
                  <a:pt x="0" y="0"/>
                </a:moveTo>
                <a:lnTo>
                  <a:pt x="2669868" y="0"/>
                </a:lnTo>
                <a:lnTo>
                  <a:pt x="2669868" y="4344460"/>
                </a:lnTo>
                <a:lnTo>
                  <a:pt x="0" y="43444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9" name="Google Shape;449;p18"/>
          <p:cNvSpPr/>
          <p:nvPr/>
        </p:nvSpPr>
        <p:spPr>
          <a:xfrm>
            <a:off x="8180398" y="4516360"/>
            <a:ext cx="729171" cy="719890"/>
          </a:xfrm>
          <a:custGeom>
            <a:rect b="b" l="l" r="r" t="t"/>
            <a:pathLst>
              <a:path extrusionOk="0" h="1439781" w="1458342">
                <a:moveTo>
                  <a:pt x="0" y="0"/>
                </a:moveTo>
                <a:lnTo>
                  <a:pt x="1458342" y="0"/>
                </a:lnTo>
                <a:lnTo>
                  <a:pt x="1458342" y="1439781"/>
                </a:lnTo>
                <a:lnTo>
                  <a:pt x="0" y="14397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0" name="Google Shape;450;p18"/>
          <p:cNvSpPr txBox="1"/>
          <p:nvPr/>
        </p:nvSpPr>
        <p:spPr>
          <a:xfrm>
            <a:off x="702473" y="757188"/>
            <a:ext cx="815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FAEADD"/>
                </a:solidFill>
                <a:latin typeface="Inclusive Sans"/>
                <a:ea typeface="Inclusive Sans"/>
                <a:cs typeface="Inclusive Sans"/>
                <a:sym typeface="Inclusive Sans"/>
              </a:rPr>
              <a:t>CSE 299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8"/>
          <p:cNvSpPr txBox="1"/>
          <p:nvPr/>
        </p:nvSpPr>
        <p:spPr>
          <a:xfrm>
            <a:off x="768038" y="2490626"/>
            <a:ext cx="2191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Martel"/>
                <a:ea typeface="Martel"/>
                <a:cs typeface="Martel"/>
                <a:sym typeface="Martel"/>
              </a:rPr>
              <a:t>Project Update 1</a:t>
            </a:r>
            <a:endParaRPr b="1" sz="1600">
              <a:solidFill>
                <a:schemeClr val="dk2"/>
              </a:solidFill>
              <a:latin typeface="Martel"/>
              <a:ea typeface="Martel"/>
              <a:cs typeface="Martel"/>
              <a:sym typeface="Marte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C9DAF8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9"/>
          <p:cNvSpPr txBox="1"/>
          <p:nvPr/>
        </p:nvSpPr>
        <p:spPr>
          <a:xfrm>
            <a:off x="234738" y="452700"/>
            <a:ext cx="5213400" cy="10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chemeClr val="dk2"/>
                </a:solidFill>
                <a:highlight>
                  <a:schemeClr val="lt1"/>
                </a:highlight>
                <a:latin typeface="Outfit"/>
                <a:ea typeface="Outfit"/>
                <a:cs typeface="Outfit"/>
                <a:sym typeface="Outfit"/>
              </a:rPr>
              <a:t>Objectives of 1st Week:</a:t>
            </a:r>
            <a:endParaRPr b="1" sz="3500">
              <a:solidFill>
                <a:schemeClr val="dk2"/>
              </a:solidFill>
              <a:highlight>
                <a:schemeClr val="lt1"/>
              </a:highlight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57" name="Google Shape;457;p19"/>
          <p:cNvSpPr txBox="1"/>
          <p:nvPr/>
        </p:nvSpPr>
        <p:spPr>
          <a:xfrm>
            <a:off x="234738" y="1210150"/>
            <a:ext cx="8184000" cy="3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latin typeface="Lato"/>
                <a:ea typeface="Lato"/>
                <a:cs typeface="Lato"/>
                <a:sym typeface="Lato"/>
              </a:rPr>
              <a:t>Goals for this development phase:</a:t>
            </a:r>
            <a:endParaRPr sz="1600" u="sng"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Set up Django project environment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Configure templates and static file directories</a:t>
            </a:r>
            <a:br>
              <a:rPr lang="en" sz="1600">
                <a:latin typeface="Lato"/>
                <a:ea typeface="Lato"/>
                <a:cs typeface="Lato"/>
                <a:sym typeface="Lato"/>
              </a:rPr>
            </a:b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Create core Django application</a:t>
            </a:r>
            <a:br>
              <a:rPr lang="en" sz="1600">
                <a:latin typeface="Lato"/>
                <a:ea typeface="Lato"/>
                <a:cs typeface="Lato"/>
                <a:sym typeface="Lato"/>
              </a:rPr>
            </a:b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Develop main frontend interfaces</a:t>
            </a:r>
            <a:br>
              <a:rPr lang="en" sz="1600">
                <a:latin typeface="Lato"/>
                <a:ea typeface="Lato"/>
                <a:cs typeface="Lato"/>
                <a:sym typeface="Lato"/>
              </a:rPr>
            </a:b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Implement initial backend components</a:t>
            </a:r>
            <a:br>
              <a:rPr lang="en" sz="1600">
                <a:latin typeface="Lato"/>
                <a:ea typeface="Lato"/>
                <a:cs typeface="Lato"/>
                <a:sym typeface="Lato"/>
              </a:rPr>
            </a:b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SzPts val="1600"/>
              <a:buFont typeface="Lato"/>
              <a:buChar char="●"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Connect frontend with Django routing system</a:t>
            </a:r>
            <a:endParaRPr sz="1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C4C2">
            <a:alpha val="61360"/>
          </a:srgbClr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0"/>
          <p:cNvSpPr txBox="1"/>
          <p:nvPr/>
        </p:nvSpPr>
        <p:spPr>
          <a:xfrm>
            <a:off x="96675" y="407000"/>
            <a:ext cx="6414900" cy="9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dk2"/>
                </a:solidFill>
                <a:highlight>
                  <a:schemeClr val="lt1"/>
                </a:highlight>
                <a:latin typeface="Outfit SemiBold"/>
                <a:ea typeface="Outfit SemiBold"/>
                <a:cs typeface="Outfit SemiBold"/>
                <a:sym typeface="Outfit SemiBold"/>
              </a:rPr>
              <a:t>Django Environment Setup</a:t>
            </a:r>
            <a:endParaRPr sz="3800">
              <a:solidFill>
                <a:schemeClr val="dk2"/>
              </a:solidFill>
              <a:highlight>
                <a:schemeClr val="lt1"/>
              </a:highlight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463" name="Google Shape;463;p20"/>
          <p:cNvSpPr txBox="1"/>
          <p:nvPr/>
        </p:nvSpPr>
        <p:spPr>
          <a:xfrm>
            <a:off x="96675" y="1383800"/>
            <a:ext cx="8225700" cy="33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Project configuration and environment preparation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Created Django project structure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Configured </a:t>
            </a:r>
            <a:r>
              <a:rPr lang="en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settings.py</a:t>
            </a:r>
            <a:br>
              <a:rPr lang="en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</a:br>
            <a:endParaRPr>
              <a:solidFill>
                <a:srgbClr val="188038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Added templates directory path, static files directory path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Updated BASE_DIR to root directory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1" marL="9144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Lato"/>
              <a:buChar char="○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Ensured project runs correctly from root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Successfully tested Django development server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4" name="Google Shape;464;p20"/>
          <p:cNvSpPr txBox="1"/>
          <p:nvPr/>
        </p:nvSpPr>
        <p:spPr>
          <a:xfrm>
            <a:off x="5134350" y="3152175"/>
            <a:ext cx="4207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CC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21"/>
          <p:cNvSpPr txBox="1"/>
          <p:nvPr/>
        </p:nvSpPr>
        <p:spPr>
          <a:xfrm>
            <a:off x="111928" y="483300"/>
            <a:ext cx="4736400" cy="6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  <a:highlight>
                  <a:schemeClr val="lt1"/>
                </a:highlight>
                <a:latin typeface="Outfit SemiBold"/>
                <a:ea typeface="Outfit SemiBold"/>
                <a:cs typeface="Outfit SemiBold"/>
                <a:sym typeface="Outfit SemiBold"/>
              </a:rPr>
              <a:t>Core Application Creation</a:t>
            </a:r>
            <a:endParaRPr sz="2900">
              <a:solidFill>
                <a:schemeClr val="dk2"/>
              </a:solidFill>
              <a:highlight>
                <a:schemeClr val="lt1"/>
              </a:highlight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470" name="Google Shape;470;p21"/>
          <p:cNvSpPr txBox="1"/>
          <p:nvPr/>
        </p:nvSpPr>
        <p:spPr>
          <a:xfrm>
            <a:off x="190863" y="1314000"/>
            <a:ext cx="5347200" cy="21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Backend application initialization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Created core Django application module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Organized project structure for scalability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Established base template structure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Prepared application for frontend and backend integration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2"/>
          <p:cNvSpPr txBox="1"/>
          <p:nvPr/>
        </p:nvSpPr>
        <p:spPr>
          <a:xfrm>
            <a:off x="96675" y="440150"/>
            <a:ext cx="6612300" cy="8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highlight>
                  <a:schemeClr val="lt1"/>
                </a:highlight>
                <a:latin typeface="Outfit SemiBold"/>
                <a:ea typeface="Outfit SemiBold"/>
                <a:cs typeface="Outfit SemiBold"/>
                <a:sym typeface="Outfit SemiBold"/>
              </a:rPr>
              <a:t>Frontend Development </a:t>
            </a:r>
            <a:endParaRPr sz="3000">
              <a:solidFill>
                <a:schemeClr val="dk2"/>
              </a:solidFill>
              <a:highlight>
                <a:schemeClr val="lt1"/>
              </a:highlight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476" name="Google Shape;476;p22"/>
          <p:cNvSpPr txBox="1"/>
          <p:nvPr/>
        </p:nvSpPr>
        <p:spPr>
          <a:xfrm>
            <a:off x="96675" y="1239900"/>
            <a:ext cx="48231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Implemented primary user interface pages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Developed using HTML, CSS, and JavaScript: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Home page interface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Login &amp;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Signup page frontend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rofile page frontend 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Dashboard interface with sidebar navigation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Settings page frontend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System now supports basic user interface navigation.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7" name="Google Shape;477;p22"/>
          <p:cNvSpPr txBox="1"/>
          <p:nvPr/>
        </p:nvSpPr>
        <p:spPr>
          <a:xfrm>
            <a:off x="4320900" y="1897650"/>
            <a:ext cx="48231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Community rooms page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Individual room interface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Chatroom user interface</a:t>
            </a:r>
            <a:br>
              <a:rPr lang="en">
                <a:latin typeface="Lato"/>
                <a:ea typeface="Lato"/>
                <a:cs typeface="Lato"/>
                <a:sym typeface="Lato"/>
              </a:rPr>
            </a:b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JavaScript used for dynamic interactions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78" name="Google Shape;47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5975" y="537650"/>
            <a:ext cx="675000" cy="675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479" name="Google Shape;47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7975" y="537650"/>
            <a:ext cx="675000" cy="675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3"/>
          <p:cNvSpPr txBox="1"/>
          <p:nvPr/>
        </p:nvSpPr>
        <p:spPr>
          <a:xfrm>
            <a:off x="146400" y="387425"/>
            <a:ext cx="43410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highlight>
                  <a:schemeClr val="lt1"/>
                </a:highlight>
                <a:latin typeface="Outfit SemiBold"/>
                <a:ea typeface="Outfit SemiBold"/>
                <a:cs typeface="Outfit SemiBold"/>
                <a:sym typeface="Outfit SemiBold"/>
              </a:rPr>
              <a:t>Django Routing Integration</a:t>
            </a:r>
            <a:endParaRPr sz="2800">
              <a:solidFill>
                <a:schemeClr val="dk2"/>
              </a:solidFill>
              <a:highlight>
                <a:schemeClr val="lt1"/>
              </a:highlight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485" name="Google Shape;485;p23"/>
          <p:cNvSpPr txBox="1"/>
          <p:nvPr/>
        </p:nvSpPr>
        <p:spPr>
          <a:xfrm>
            <a:off x="146400" y="1471075"/>
            <a:ext cx="4425600" cy="30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Lato"/>
                <a:ea typeface="Lato"/>
                <a:cs typeface="Lato"/>
                <a:sym typeface="Lato"/>
              </a:rPr>
              <a:t>Frontend and backend connectivity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Lato"/>
                <a:ea typeface="Lato"/>
                <a:cs typeface="Lato"/>
                <a:sym typeface="Lato"/>
              </a:rPr>
              <a:t>Connected templates with Django routing system: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Lato"/>
              <a:buChar char="●"/>
            </a:pPr>
            <a:r>
              <a:rPr lang="en" sz="1500">
                <a:latin typeface="Lato"/>
                <a:ea typeface="Lato"/>
                <a:cs typeface="Lato"/>
                <a:sym typeface="Lato"/>
              </a:rPr>
              <a:t>Configured </a:t>
            </a:r>
            <a:r>
              <a:rPr lang="en" sz="15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urls.py</a:t>
            </a:r>
            <a:endParaRPr sz="1500">
              <a:solidFill>
                <a:srgbClr val="188038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●"/>
            </a:pPr>
            <a:r>
              <a:rPr lang="en" sz="1500">
                <a:latin typeface="Lato"/>
                <a:ea typeface="Lato"/>
                <a:cs typeface="Lato"/>
                <a:sym typeface="Lato"/>
              </a:rPr>
              <a:t>Implemented corresponding </a:t>
            </a:r>
            <a:r>
              <a:rPr lang="en" sz="1500">
                <a:solidFill>
                  <a:srgbClr val="188038"/>
                </a:solidFill>
                <a:latin typeface="Lato"/>
                <a:ea typeface="Lato"/>
                <a:cs typeface="Lato"/>
                <a:sym typeface="Lato"/>
              </a:rPr>
              <a:t>views.py</a:t>
            </a:r>
            <a:endParaRPr sz="1500">
              <a:solidFill>
                <a:srgbClr val="188038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●"/>
            </a:pPr>
            <a:r>
              <a:rPr lang="en" sz="1500">
                <a:latin typeface="Lato"/>
                <a:ea typeface="Lato"/>
                <a:cs typeface="Lato"/>
                <a:sym typeface="Lato"/>
              </a:rPr>
              <a:t>Linked templates with views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Lato"/>
              <a:buChar char="●"/>
            </a:pPr>
            <a:r>
              <a:rPr lang="en" sz="1500">
                <a:latin typeface="Lato"/>
                <a:ea typeface="Lato"/>
                <a:cs typeface="Lato"/>
                <a:sym typeface="Lato"/>
              </a:rPr>
              <a:t>Verified successful page navigation</a:t>
            </a:r>
            <a:br>
              <a:rPr lang="en" sz="1500">
                <a:latin typeface="Lato"/>
                <a:ea typeface="Lato"/>
                <a:cs typeface="Lato"/>
                <a:sym typeface="Lato"/>
              </a:rPr>
            </a:b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Lato"/>
                <a:ea typeface="Lato"/>
                <a:cs typeface="Lato"/>
                <a:sym typeface="Lato"/>
              </a:rPr>
              <a:t>System now supports proper page routing.</a:t>
            </a:r>
            <a:endParaRPr sz="15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86" name="Google Shape;486;p23" title="Screenshot 2026-02-22 at 7.45.43 PM.png"/>
          <p:cNvPicPr preferRelativeResize="0"/>
          <p:nvPr/>
        </p:nvPicPr>
        <p:blipFill rotWithShape="1">
          <a:blip r:embed="rId3">
            <a:alphaModFix/>
          </a:blip>
          <a:srcRect b="46893" l="0" r="0" t="0"/>
          <a:stretch/>
        </p:blipFill>
        <p:spPr>
          <a:xfrm>
            <a:off x="4790400" y="3367425"/>
            <a:ext cx="3806199" cy="112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23" title="Screenshot 2026-02-22 at 7.46.25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1888" y="387425"/>
            <a:ext cx="2463225" cy="129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23" title="Screenshot 2026-02-22 at 7.55.31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1863725"/>
            <a:ext cx="4153816" cy="112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4"/>
          <p:cNvSpPr txBox="1"/>
          <p:nvPr/>
        </p:nvSpPr>
        <p:spPr>
          <a:xfrm>
            <a:off x="127200" y="422275"/>
            <a:ext cx="4929900" cy="10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dk2"/>
                </a:solidFill>
                <a:highlight>
                  <a:schemeClr val="lt1"/>
                </a:highlight>
                <a:latin typeface="Outfit SemiBold"/>
                <a:ea typeface="Outfit SemiBold"/>
                <a:cs typeface="Outfit SemiBold"/>
                <a:sym typeface="Outfit SemiBold"/>
              </a:rPr>
              <a:t>Backend Development – User Profile</a:t>
            </a:r>
            <a:endParaRPr sz="3100">
              <a:solidFill>
                <a:schemeClr val="dk2"/>
              </a:solidFill>
              <a:highlight>
                <a:schemeClr val="lt1"/>
              </a:highlight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494" name="Google Shape;494;p24"/>
          <p:cNvSpPr txBox="1"/>
          <p:nvPr/>
        </p:nvSpPr>
        <p:spPr>
          <a:xfrm>
            <a:off x="127200" y="1475375"/>
            <a:ext cx="8902500" cy="30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Database and model implementation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Created initial backend components: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Designed User Profile model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Defined profile attributes and structure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Connected model with Django framework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Prepared system for database integration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This enables user data storage and profile management.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EADD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25" title="Screenshot 2026-02-22 18031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625" y="304900"/>
            <a:ext cx="7958623" cy="3785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00" name="Google Shape;500;p25"/>
          <p:cNvSpPr txBox="1"/>
          <p:nvPr/>
        </p:nvSpPr>
        <p:spPr>
          <a:xfrm>
            <a:off x="1716663" y="4208675"/>
            <a:ext cx="5419800" cy="384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Home Page of our site</a:t>
            </a:r>
            <a:endParaRPr b="1"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26" title="Screenshot 2026-02-22 1804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300" y="405875"/>
            <a:ext cx="7873378" cy="375100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06" name="Google Shape;506;p26"/>
          <p:cNvSpPr txBox="1"/>
          <p:nvPr/>
        </p:nvSpPr>
        <p:spPr>
          <a:xfrm>
            <a:off x="1656900" y="4156875"/>
            <a:ext cx="5830200" cy="384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User Dashboard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27" title="Screenshot 2026-02-22 1809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400" y="335425"/>
            <a:ext cx="8419023" cy="39417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12" name="Google Shape;512;p27"/>
          <p:cNvSpPr txBox="1"/>
          <p:nvPr/>
        </p:nvSpPr>
        <p:spPr>
          <a:xfrm>
            <a:off x="3334762" y="4277175"/>
            <a:ext cx="2328300" cy="384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User Profile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Google Shape;517;p28" title="Screenshot 2026-02-22 18104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1801" y="478675"/>
            <a:ext cx="6993376" cy="3323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18" name="Google Shape;518;p28"/>
          <p:cNvSpPr txBox="1"/>
          <p:nvPr/>
        </p:nvSpPr>
        <p:spPr>
          <a:xfrm>
            <a:off x="2283000" y="4012175"/>
            <a:ext cx="4578000" cy="394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User Settings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29" title="Screenshot 2026-02-22 1805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54375"/>
            <a:ext cx="4741427" cy="2317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29" title="2da30904-29fb-4a7b-a5e3-e9855eeac61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" y="2571750"/>
            <a:ext cx="4576999" cy="197319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25" name="Google Shape;525;p29"/>
          <p:cNvSpPr txBox="1"/>
          <p:nvPr/>
        </p:nvSpPr>
        <p:spPr>
          <a:xfrm>
            <a:off x="5030525" y="894525"/>
            <a:ext cx="3788700" cy="785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Outfit Medium"/>
                <a:ea typeface="Outfit Medium"/>
                <a:cs typeface="Outfit Medium"/>
                <a:sym typeface="Outfit Medium"/>
              </a:rPr>
              <a:t>User Room </a:t>
            </a:r>
            <a:endParaRPr sz="1300">
              <a:solidFill>
                <a:schemeClr val="dk2"/>
              </a:solidFill>
              <a:latin typeface="Outfit Medium"/>
              <a:ea typeface="Outfit Medium"/>
              <a:cs typeface="Outfit Medium"/>
              <a:sym typeface="Outfit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Outfit Medium"/>
              <a:buChar char="-"/>
            </a:pPr>
            <a:r>
              <a:rPr lang="en" sz="1300">
                <a:solidFill>
                  <a:schemeClr val="dk2"/>
                </a:solidFill>
                <a:latin typeface="Outfit Medium"/>
                <a:ea typeface="Outfit Medium"/>
                <a:cs typeface="Outfit Medium"/>
                <a:sym typeface="Outfit Medium"/>
              </a:rPr>
              <a:t>Plan to keep </a:t>
            </a:r>
            <a:r>
              <a:rPr lang="en" sz="1300">
                <a:solidFill>
                  <a:schemeClr val="dk2"/>
                </a:solidFill>
                <a:latin typeface="Outfit Medium"/>
                <a:ea typeface="Outfit Medium"/>
                <a:cs typeface="Outfit Medium"/>
                <a:sym typeface="Outfit Medium"/>
              </a:rPr>
              <a:t>saved</a:t>
            </a:r>
            <a:r>
              <a:rPr lang="en" sz="1300">
                <a:solidFill>
                  <a:schemeClr val="dk2"/>
                </a:solidFill>
                <a:latin typeface="Outfit Medium"/>
                <a:ea typeface="Outfit Medium"/>
                <a:cs typeface="Outfit Medium"/>
                <a:sym typeface="Outfit Medium"/>
              </a:rPr>
              <a:t> rooms</a:t>
            </a:r>
            <a:endParaRPr sz="1300">
              <a:solidFill>
                <a:schemeClr val="dk2"/>
              </a:solidFill>
              <a:latin typeface="Outfit Medium"/>
              <a:ea typeface="Outfit Medium"/>
              <a:cs typeface="Outfit Medium"/>
              <a:sym typeface="Outfit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Outfit Medium"/>
              <a:buChar char="-"/>
            </a:pPr>
            <a:r>
              <a:rPr lang="en" sz="1300">
                <a:solidFill>
                  <a:schemeClr val="dk2"/>
                </a:solidFill>
                <a:latin typeface="Outfit Medium"/>
                <a:ea typeface="Outfit Medium"/>
                <a:cs typeface="Outfit Medium"/>
                <a:sym typeface="Outfit Medium"/>
              </a:rPr>
              <a:t>User can create more rooms </a:t>
            </a:r>
            <a:endParaRPr sz="1300">
              <a:solidFill>
                <a:schemeClr val="dk2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26" name="Google Shape;526;p29"/>
          <p:cNvSpPr txBox="1"/>
          <p:nvPr/>
        </p:nvSpPr>
        <p:spPr>
          <a:xfrm>
            <a:off x="5030525" y="3025600"/>
            <a:ext cx="3788700" cy="7851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Outfit Medium"/>
                <a:ea typeface="Outfit Medium"/>
                <a:cs typeface="Outfit Medium"/>
                <a:sym typeface="Outfit Medium"/>
              </a:rPr>
              <a:t>Community Rooms</a:t>
            </a:r>
            <a:endParaRPr sz="1300">
              <a:solidFill>
                <a:schemeClr val="dk2"/>
              </a:solidFill>
              <a:latin typeface="Outfit Medium"/>
              <a:ea typeface="Outfit Medium"/>
              <a:cs typeface="Outfit Medium"/>
              <a:sym typeface="Outfit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Outfit Medium"/>
              <a:buChar char="-"/>
            </a:pPr>
            <a:r>
              <a:rPr lang="en" sz="1300">
                <a:solidFill>
                  <a:schemeClr val="dk2"/>
                </a:solidFill>
                <a:latin typeface="Outfit Medium"/>
                <a:ea typeface="Outfit Medium"/>
                <a:cs typeface="Outfit Medium"/>
                <a:sym typeface="Outfit Medium"/>
              </a:rPr>
              <a:t>Plan to store public room access here</a:t>
            </a:r>
            <a:endParaRPr sz="1300">
              <a:solidFill>
                <a:schemeClr val="dk2"/>
              </a:solidFill>
              <a:latin typeface="Outfit Medium"/>
              <a:ea typeface="Outfit Medium"/>
              <a:cs typeface="Outfit Medium"/>
              <a:sym typeface="Outfit Medium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Outfit Medium"/>
              <a:buChar char="-"/>
            </a:pPr>
            <a:r>
              <a:rPr lang="en" sz="1300">
                <a:solidFill>
                  <a:schemeClr val="dk2"/>
                </a:solidFill>
                <a:latin typeface="Outfit Medium"/>
                <a:ea typeface="Outfit Medium"/>
                <a:cs typeface="Outfit Medium"/>
                <a:sym typeface="Outfit Medium"/>
              </a:rPr>
              <a:t>Plan to keep </a:t>
            </a:r>
            <a:r>
              <a:rPr lang="en" sz="1300">
                <a:solidFill>
                  <a:schemeClr val="dk2"/>
                </a:solidFill>
                <a:latin typeface="Outfit Medium"/>
                <a:ea typeface="Outfit Medium"/>
                <a:cs typeface="Outfit Medium"/>
                <a:sym typeface="Outfit Medium"/>
              </a:rPr>
              <a:t>community</a:t>
            </a:r>
            <a:r>
              <a:rPr lang="en" sz="1300">
                <a:solidFill>
                  <a:schemeClr val="dk2"/>
                </a:solidFill>
                <a:latin typeface="Outfit Medium"/>
                <a:ea typeface="Outfit Medium"/>
                <a:cs typeface="Outfit Medium"/>
                <a:sym typeface="Outfit Medium"/>
              </a:rPr>
              <a:t> notices</a:t>
            </a:r>
            <a:endParaRPr sz="1300">
              <a:solidFill>
                <a:schemeClr val="dk2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" name="Google Shape;531;p30" title="Screenshot 2026-02-22 1806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188" y="496725"/>
            <a:ext cx="8129623" cy="37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30"/>
          <p:cNvSpPr txBox="1"/>
          <p:nvPr/>
        </p:nvSpPr>
        <p:spPr>
          <a:xfrm>
            <a:off x="3440700" y="4279525"/>
            <a:ext cx="2262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Chatroom UI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31" title="Screenshot 2026-02-22 1807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9650"/>
            <a:ext cx="8991598" cy="429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D1DC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2"/>
          <p:cNvSpPr txBox="1"/>
          <p:nvPr/>
        </p:nvSpPr>
        <p:spPr>
          <a:xfrm>
            <a:off x="111925" y="437525"/>
            <a:ext cx="4460100" cy="9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highlight>
                  <a:schemeClr val="lt1"/>
                </a:highlight>
                <a:latin typeface="Outfit Medium"/>
                <a:ea typeface="Outfit Medium"/>
                <a:cs typeface="Outfit Medium"/>
                <a:sym typeface="Outfit Medium"/>
              </a:rPr>
              <a:t>Current Progress Summary</a:t>
            </a:r>
            <a:endParaRPr sz="2800">
              <a:solidFill>
                <a:schemeClr val="dk2"/>
              </a:solidFill>
              <a:highlight>
                <a:schemeClr val="lt1"/>
              </a:highlight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543" name="Google Shape;543;p32"/>
          <p:cNvSpPr txBox="1"/>
          <p:nvPr/>
        </p:nvSpPr>
        <p:spPr>
          <a:xfrm>
            <a:off x="81400" y="1429600"/>
            <a:ext cx="8948400" cy="3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Completed components: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Django environment setup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Core application structure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Multiple frontend pages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Chatroom and rooms interface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Initial backend models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Lato"/>
              <a:buChar char="●"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Routing integration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Lato"/>
                <a:ea typeface="Lato"/>
                <a:cs typeface="Lato"/>
                <a:sym typeface="Lato"/>
              </a:rPr>
              <a:t>System Status: Functional frontend with partially integrated backend.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