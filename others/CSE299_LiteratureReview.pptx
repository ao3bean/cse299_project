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clusive Sans"/>
      <p:regular r:id="rId20"/>
      <p:bold r:id="rId21"/>
      <p:italic r:id="rId22"/>
      <p:boldItalic r:id="rId23"/>
    </p:embeddedFont>
    <p:embeddedFont>
      <p:font typeface="Lexend Light"/>
      <p:regular r:id="rId24"/>
      <p:bold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aven Pro SemiBold"/>
      <p:regular r:id="rId30"/>
      <p:bold r:id="rId31"/>
    </p:embeddedFont>
    <p:embeddedFont>
      <p:font typeface="Instrument Sans SemiBold"/>
      <p:regular r:id="rId32"/>
      <p:bold r:id="rId33"/>
      <p:italic r:id="rId34"/>
      <p:boldItalic r:id="rId35"/>
    </p:embeddedFont>
    <p:embeddedFont>
      <p:font typeface="Maven Pro"/>
      <p:regular r:id="rId36"/>
      <p:bold r:id="rId37"/>
    </p:embeddedFont>
    <p:embeddedFont>
      <p:font typeface="Instrument Sans"/>
      <p:regular r:id="rId38"/>
      <p:bold r:id="rId39"/>
      <p:italic r:id="rId40"/>
      <p:boldItalic r:id="rId41"/>
    </p:embeddedFont>
    <p:embeddedFont>
      <p:font typeface="Outfit SemiBold"/>
      <p:regular r:id="rId42"/>
      <p:bold r:id="rId43"/>
    </p:embeddedFont>
    <p:embeddedFont>
      <p:font typeface="Lexend"/>
      <p:regular r:id="rId44"/>
      <p:bold r:id="rId45"/>
    </p:embeddedFont>
    <p:embeddedFont>
      <p:font typeface="Martel"/>
      <p:regular r:id="rId46"/>
      <p:bold r:id="rId47"/>
    </p:embeddedFont>
    <p:embeddedFont>
      <p:font typeface="Roboto"/>
      <p:regular r:id="rId48"/>
      <p:bold r:id="rId49"/>
      <p:italic r:id="rId50"/>
      <p:boldItalic r:id="rId51"/>
    </p:embeddedFont>
    <p:embeddedFont>
      <p:font typeface="Lato"/>
      <p:regular r:id="rId52"/>
      <p:bold r:id="rId53"/>
      <p:italic r:id="rId54"/>
      <p:boldItalic r:id="rId55"/>
    </p:embeddedFont>
    <p:embeddedFont>
      <p:font typeface="Outfit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-italic.fntdata"/><Relationship Id="rId42" Type="http://schemas.openxmlformats.org/officeDocument/2006/relationships/font" Target="fonts/OutfitSemiBold-regular.fntdata"/><Relationship Id="rId41" Type="http://schemas.openxmlformats.org/officeDocument/2006/relationships/font" Target="fonts/InstrumentSans-boldItalic.fntdata"/><Relationship Id="rId44" Type="http://schemas.openxmlformats.org/officeDocument/2006/relationships/font" Target="fonts/Lexend-regular.fntdata"/><Relationship Id="rId43" Type="http://schemas.openxmlformats.org/officeDocument/2006/relationships/font" Target="fonts/OutfitSemiBold-bold.fntdata"/><Relationship Id="rId46" Type="http://schemas.openxmlformats.org/officeDocument/2006/relationships/font" Target="fonts/Martel-regular.fntdata"/><Relationship Id="rId45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font" Target="fonts/Martel-bold.fntdata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avenProSemiBold-bold.fntdata"/><Relationship Id="rId30" Type="http://schemas.openxmlformats.org/officeDocument/2006/relationships/font" Target="fonts/MavenProSemiBold-regular.fntdata"/><Relationship Id="rId33" Type="http://schemas.openxmlformats.org/officeDocument/2006/relationships/font" Target="fonts/InstrumentSansSemiBold-bold.fntdata"/><Relationship Id="rId32" Type="http://schemas.openxmlformats.org/officeDocument/2006/relationships/font" Target="fonts/InstrumentSansSemiBold-regular.fntdata"/><Relationship Id="rId35" Type="http://schemas.openxmlformats.org/officeDocument/2006/relationships/font" Target="fonts/InstrumentSansSemiBold-boldItalic.fntdata"/><Relationship Id="rId34" Type="http://schemas.openxmlformats.org/officeDocument/2006/relationships/font" Target="fonts/InstrumentSansSemiBold-italic.fntdata"/><Relationship Id="rId37" Type="http://schemas.openxmlformats.org/officeDocument/2006/relationships/font" Target="fonts/MavenPro-bold.fntdata"/><Relationship Id="rId36" Type="http://schemas.openxmlformats.org/officeDocument/2006/relationships/font" Target="fonts/MavenPro-regular.fntdata"/><Relationship Id="rId39" Type="http://schemas.openxmlformats.org/officeDocument/2006/relationships/font" Target="fonts/InstrumentSans-bold.fntdata"/><Relationship Id="rId38" Type="http://schemas.openxmlformats.org/officeDocument/2006/relationships/font" Target="fonts/InstrumentSans-regular.fntdata"/><Relationship Id="rId20" Type="http://schemas.openxmlformats.org/officeDocument/2006/relationships/font" Target="fonts/InclusiveSans-regular.fntdata"/><Relationship Id="rId22" Type="http://schemas.openxmlformats.org/officeDocument/2006/relationships/font" Target="fonts/InclusiveSans-italic.fntdata"/><Relationship Id="rId21" Type="http://schemas.openxmlformats.org/officeDocument/2006/relationships/font" Target="fonts/InclusiveSans-bold.fntdata"/><Relationship Id="rId24" Type="http://schemas.openxmlformats.org/officeDocument/2006/relationships/font" Target="fonts/LexendLight-regular.fntdata"/><Relationship Id="rId23" Type="http://schemas.openxmlformats.org/officeDocument/2006/relationships/font" Target="fonts/InclusiveSans-boldItalic.fntdata"/><Relationship Id="rId26" Type="http://schemas.openxmlformats.org/officeDocument/2006/relationships/font" Target="fonts/Nunito-regular.fntdata"/><Relationship Id="rId25" Type="http://schemas.openxmlformats.org/officeDocument/2006/relationships/font" Target="fonts/LexendLight-bold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29" Type="http://schemas.openxmlformats.org/officeDocument/2006/relationships/font" Target="fonts/Nunito-boldItalic.fntdata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6.xml"/><Relationship Id="rId55" Type="http://schemas.openxmlformats.org/officeDocument/2006/relationships/font" Target="fonts/Lato-boldItalic.fntdata"/><Relationship Id="rId10" Type="http://schemas.openxmlformats.org/officeDocument/2006/relationships/slide" Target="slides/slide5.xml"/><Relationship Id="rId54" Type="http://schemas.openxmlformats.org/officeDocument/2006/relationships/font" Target="fonts/Lato-italic.fntdata"/><Relationship Id="rId13" Type="http://schemas.openxmlformats.org/officeDocument/2006/relationships/slide" Target="slides/slide8.xml"/><Relationship Id="rId57" Type="http://schemas.openxmlformats.org/officeDocument/2006/relationships/font" Target="fonts/Outfit-bold.fntdata"/><Relationship Id="rId12" Type="http://schemas.openxmlformats.org/officeDocument/2006/relationships/slide" Target="slides/slide7.xml"/><Relationship Id="rId56" Type="http://schemas.openxmlformats.org/officeDocument/2006/relationships/font" Target="fonts/Outfit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d404410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g3bd4044105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bfda832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bfda832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493244d8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493244d8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493244d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c493244d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493244d8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c493244d8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493244d8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493244d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493244d8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c493244d8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493244d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c493244d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bfda832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bfda832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bfda8324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cbfda8324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ba5faad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cba5faad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bfda8324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cbfda8324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48c427e7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c48c427e7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493244d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c493244d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" name="Google Shape;30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1" name="Google Shape;31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Google Shape;33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4" name="Google Shape;34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" name="Google Shape;37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" name="Google Shape;38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" name="Google Shape;41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2" name="Google Shape;52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6" name="Google Shape;56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0" name="Google Shape;60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6" name="Google Shape;66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3" name="Google Shape;73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3" name="Google Shape;83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7" name="Google Shape;87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4" name="Google Shape;94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2" name="Google Shape;102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8" name="Google Shape;108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5" name="Google Shape;115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" name="Google Shape;119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0" name="Google Shape;120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" name="Google Shape;123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6" name="Google Shape;126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0" name="Google Shape;130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4" name="Google Shape;134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8" name="Google Shape;138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4" name="Google Shape;144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5" name="Google Shape;14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0" name="Google Shape;15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" name="Google Shape;155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6" name="Google Shape;156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1" name="Google Shape;161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" name="Google Shape;164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5" name="Google Shape;165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1" name="Google Shape;171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" name="Google Shape;175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6" name="Google Shape;176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0" name="Google Shape;180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" name="Google Shape;185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6" name="Google Shape;186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" name="Google Shape;190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1" name="Google Shape;191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" name="Google Shape;195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6" name="Google Shape;196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" name="Google Shape;199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0" name="Google Shape;200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" name="Google Shape;204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5" name="Google Shape;205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0" name="Google Shape;210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6" name="Google Shape;216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1" name="Google Shape;221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5" name="Google Shape;225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0" name="Google Shape;230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" name="Google Shape;235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6" name="Google Shape;236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" name="Google Shape;240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1" name="Google Shape;241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" name="Google Shape;244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5" name="Google Shape;245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0" name="Google Shape;250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1" name="Google Shape;251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" name="Google Shape;255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6" name="Google Shape;256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1" name="Google Shape;261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5" name="Google Shape;265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9" name="Google Shape;269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76" name="Google Shape;276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5" name="Google Shape;335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37" name="Google Shape;337;p1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8" name="Google Shape;338;p1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9" name="Google Shape;339;p1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13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1" name="Google Shape;341;p13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2" name="Google Shape;342;p13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14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6" name="Google Shape;346;p14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7" name="Google Shape;347;p14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14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9" name="Google Shape;349;p14"/>
          <p:cNvSpPr txBox="1"/>
          <p:nvPr>
            <p:ph idx="5" type="title"/>
          </p:nvPr>
        </p:nvSpPr>
        <p:spPr>
          <a:xfrm>
            <a:off x="1731400" y="3856304"/>
            <a:ext cx="1616100" cy="7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50" name="Google Shape;350;p14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1" name="Google Shape;351;p14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2" name="Google Shape;352;p14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53" name="Google Shape;353;p14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6" name="Google Shape;356;p15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7" name="Google Shape;357;p15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358" name="Google Shape;358;p15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9" name="Google Shape;359;p15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360" name="Google Shape;360;p15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1" name="Google Shape;361;p15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362" name="Google Shape;362;p15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63" name="Google Shape;363;p15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64" name="Google Shape;364;p15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67" name="Google Shape;367;p1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1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6" name="Google Shape;426;p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8" name="Google Shape;428;p16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1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0" name="Google Shape;430;p1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1" name="Google Shape;431;p1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CUSTOM_1_1_1_1_1_1_1_1_1_1_2_1_1_1_1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34" name="Google Shape;434;p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67700" y="4625700"/>
            <a:ext cx="8664600" cy="3567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Group 4 : Ananya Sarkar | Mahjabin Noor Nabila | Nazia Faruque Diya</a:t>
            </a:r>
            <a:endParaRPr>
              <a:solidFill>
                <a:srgbClr val="073763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tore.steampowered.com/app/3707400/OnTogether_Virtual_CoWorking/" TargetMode="External"/><Relationship Id="rId4" Type="http://schemas.openxmlformats.org/officeDocument/2006/relationships/hyperlink" Target="https://store.steampowered.com/app/3707400/OnTogether_Virtual_CoWorkin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741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18"/>
          <p:cNvGrpSpPr/>
          <p:nvPr/>
        </p:nvGrpSpPr>
        <p:grpSpPr>
          <a:xfrm>
            <a:off x="514350" y="645125"/>
            <a:ext cx="1191641" cy="2122909"/>
            <a:chOff x="0" y="0"/>
            <a:chExt cx="380400" cy="798146"/>
          </a:xfrm>
        </p:grpSpPr>
        <p:sp>
          <p:nvSpPr>
            <p:cNvPr id="441" name="Google Shape;441;p18"/>
            <p:cNvSpPr/>
            <p:nvPr/>
          </p:nvSpPr>
          <p:spPr>
            <a:xfrm>
              <a:off x="0" y="0"/>
              <a:ext cx="380267" cy="798146"/>
            </a:xfrm>
            <a:custGeom>
              <a:rect b="b" l="l" r="r" t="t"/>
              <a:pathLst>
                <a:path extrusionOk="0" h="798146" w="380267">
                  <a:moveTo>
                    <a:pt x="133952" y="0"/>
                  </a:moveTo>
                  <a:lnTo>
                    <a:pt x="246314" y="0"/>
                  </a:lnTo>
                  <a:cubicBezTo>
                    <a:pt x="320294" y="0"/>
                    <a:pt x="380267" y="59972"/>
                    <a:pt x="380267" y="133952"/>
                  </a:cubicBezTo>
                  <a:lnTo>
                    <a:pt x="380267" y="664194"/>
                  </a:lnTo>
                  <a:cubicBezTo>
                    <a:pt x="380267" y="738174"/>
                    <a:pt x="320294" y="798146"/>
                    <a:pt x="246314" y="798146"/>
                  </a:cubicBezTo>
                  <a:lnTo>
                    <a:pt x="133952" y="798146"/>
                  </a:lnTo>
                  <a:cubicBezTo>
                    <a:pt x="59972" y="798146"/>
                    <a:pt x="0" y="738174"/>
                    <a:pt x="0" y="664194"/>
                  </a:cubicBezTo>
                  <a:lnTo>
                    <a:pt x="0" y="133952"/>
                  </a:lnTo>
                  <a:cubicBezTo>
                    <a:pt x="0" y="59972"/>
                    <a:pt x="59972" y="0"/>
                    <a:pt x="133952" y="0"/>
                  </a:cubicBezTo>
                  <a:close/>
                </a:path>
              </a:pathLst>
            </a:custGeom>
            <a:solidFill>
              <a:srgbClr val="90960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8"/>
            <p:cNvSpPr txBox="1"/>
            <p:nvPr/>
          </p:nvSpPr>
          <p:spPr>
            <a:xfrm>
              <a:off x="0" y="104775"/>
              <a:ext cx="380400" cy="6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4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18"/>
          <p:cNvSpPr/>
          <p:nvPr/>
        </p:nvSpPr>
        <p:spPr>
          <a:xfrm rot="-992090">
            <a:off x="4744446" y="96220"/>
            <a:ext cx="1825046" cy="1552948"/>
          </a:xfrm>
          <a:custGeom>
            <a:rect b="b" l="l" r="r" t="t"/>
            <a:pathLst>
              <a:path extrusionOk="0" h="3101519" w="3644948">
                <a:moveTo>
                  <a:pt x="0" y="0"/>
                </a:moveTo>
                <a:lnTo>
                  <a:pt x="3644948" y="0"/>
                </a:lnTo>
                <a:lnTo>
                  <a:pt x="3644948" y="3101519"/>
                </a:lnTo>
                <a:lnTo>
                  <a:pt x="0" y="3101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4" name="Google Shape;444;p18"/>
          <p:cNvGrpSpPr/>
          <p:nvPr/>
        </p:nvGrpSpPr>
        <p:grpSpPr>
          <a:xfrm>
            <a:off x="514350" y="1127970"/>
            <a:ext cx="6627761" cy="2869791"/>
            <a:chOff x="0" y="0"/>
            <a:chExt cx="2491827" cy="1078950"/>
          </a:xfrm>
        </p:grpSpPr>
        <p:sp>
          <p:nvSpPr>
            <p:cNvPr id="445" name="Google Shape;445;p18"/>
            <p:cNvSpPr/>
            <p:nvPr/>
          </p:nvSpPr>
          <p:spPr>
            <a:xfrm>
              <a:off x="0" y="0"/>
              <a:ext cx="2491827" cy="1078928"/>
            </a:xfrm>
            <a:custGeom>
              <a:rect b="b" l="l" r="r" t="t"/>
              <a:pathLst>
                <a:path extrusionOk="0" h="1078928" w="2491827">
                  <a:moveTo>
                    <a:pt x="20442" y="0"/>
                  </a:moveTo>
                  <a:lnTo>
                    <a:pt x="2471385" y="0"/>
                  </a:lnTo>
                  <a:cubicBezTo>
                    <a:pt x="2476807" y="0"/>
                    <a:pt x="2482006" y="2154"/>
                    <a:pt x="2485840" y="5987"/>
                  </a:cubicBezTo>
                  <a:cubicBezTo>
                    <a:pt x="2489673" y="9821"/>
                    <a:pt x="2491827" y="15020"/>
                    <a:pt x="2491827" y="20442"/>
                  </a:cubicBezTo>
                  <a:lnTo>
                    <a:pt x="2491827" y="1058487"/>
                  </a:lnTo>
                  <a:cubicBezTo>
                    <a:pt x="2491827" y="1063908"/>
                    <a:pt x="2489673" y="1069108"/>
                    <a:pt x="2485840" y="1072941"/>
                  </a:cubicBezTo>
                  <a:cubicBezTo>
                    <a:pt x="2482006" y="1076775"/>
                    <a:pt x="2476807" y="1078928"/>
                    <a:pt x="2471385" y="1078928"/>
                  </a:cubicBezTo>
                  <a:lnTo>
                    <a:pt x="20442" y="1078928"/>
                  </a:lnTo>
                  <a:cubicBezTo>
                    <a:pt x="15020" y="1078928"/>
                    <a:pt x="9821" y="1076775"/>
                    <a:pt x="5987" y="1072941"/>
                  </a:cubicBezTo>
                  <a:cubicBezTo>
                    <a:pt x="2154" y="1069108"/>
                    <a:pt x="0" y="1063908"/>
                    <a:pt x="0" y="1058487"/>
                  </a:cubicBezTo>
                  <a:lnTo>
                    <a:pt x="0" y="20442"/>
                  </a:lnTo>
                  <a:cubicBezTo>
                    <a:pt x="0" y="15020"/>
                    <a:pt x="2154" y="9821"/>
                    <a:pt x="5987" y="5987"/>
                  </a:cubicBezTo>
                  <a:cubicBezTo>
                    <a:pt x="9821" y="2154"/>
                    <a:pt x="15020" y="0"/>
                    <a:pt x="20442" y="0"/>
                  </a:cubicBezTo>
                  <a:close/>
                </a:path>
              </a:pathLst>
            </a:custGeom>
            <a:solidFill>
              <a:srgbClr val="FAEAD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8"/>
            <p:cNvSpPr txBox="1"/>
            <p:nvPr/>
          </p:nvSpPr>
          <p:spPr>
            <a:xfrm>
              <a:off x="0" y="133350"/>
              <a:ext cx="2491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18"/>
          <p:cNvSpPr txBox="1"/>
          <p:nvPr/>
        </p:nvSpPr>
        <p:spPr>
          <a:xfrm>
            <a:off x="768038" y="1644037"/>
            <a:ext cx="4297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" sz="5500">
                <a:latin typeface="Martel"/>
                <a:ea typeface="Martel"/>
                <a:cs typeface="Martel"/>
                <a:sym typeface="Martel"/>
              </a:rPr>
              <a:t>Cadence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 rot="-800355">
            <a:off x="7722898" y="-794621"/>
            <a:ext cx="1330789" cy="2165486"/>
          </a:xfrm>
          <a:custGeom>
            <a:rect b="b" l="l" r="r" t="t"/>
            <a:pathLst>
              <a:path extrusionOk="0" h="4344460" w="2669868">
                <a:moveTo>
                  <a:pt x="0" y="0"/>
                </a:moveTo>
                <a:lnTo>
                  <a:pt x="2669868" y="0"/>
                </a:lnTo>
                <a:lnTo>
                  <a:pt x="2669868" y="4344460"/>
                </a:lnTo>
                <a:lnTo>
                  <a:pt x="0" y="4344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18"/>
          <p:cNvSpPr/>
          <p:nvPr/>
        </p:nvSpPr>
        <p:spPr>
          <a:xfrm>
            <a:off x="8180398" y="4516360"/>
            <a:ext cx="729171" cy="719890"/>
          </a:xfrm>
          <a:custGeom>
            <a:rect b="b" l="l" r="r" t="t"/>
            <a:pathLst>
              <a:path extrusionOk="0" h="1439781" w="1458342">
                <a:moveTo>
                  <a:pt x="0" y="0"/>
                </a:moveTo>
                <a:lnTo>
                  <a:pt x="1458342" y="0"/>
                </a:lnTo>
                <a:lnTo>
                  <a:pt x="1458342" y="1439781"/>
                </a:lnTo>
                <a:lnTo>
                  <a:pt x="0" y="1439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18"/>
          <p:cNvSpPr txBox="1"/>
          <p:nvPr/>
        </p:nvSpPr>
        <p:spPr>
          <a:xfrm>
            <a:off x="702473" y="757188"/>
            <a:ext cx="81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AEADD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CSE 299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768038" y="2490626"/>
            <a:ext cx="21915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artel"/>
                <a:ea typeface="Martel"/>
                <a:cs typeface="Martel"/>
                <a:sym typeface="Martel"/>
              </a:rPr>
              <a:t>Literature Review </a:t>
            </a:r>
            <a:endParaRPr b="1" sz="1600">
              <a:solidFill>
                <a:schemeClr val="dk2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9"/>
          <p:cNvSpPr txBox="1"/>
          <p:nvPr/>
        </p:nvSpPr>
        <p:spPr>
          <a:xfrm>
            <a:off x="483800" y="483800"/>
            <a:ext cx="70533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This review surveys related platforms and prior work across two major themes</a:t>
            </a:r>
            <a:endParaRPr sz="2400">
              <a:solidFill>
                <a:schemeClr val="dk2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57" name="Google Shape;457;p19"/>
          <p:cNvSpPr txBox="1"/>
          <p:nvPr/>
        </p:nvSpPr>
        <p:spPr>
          <a:xfrm>
            <a:off x="738425" y="1324075"/>
            <a:ext cx="16806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19"/>
          <p:cNvSpPr txBox="1"/>
          <p:nvPr/>
        </p:nvSpPr>
        <p:spPr>
          <a:xfrm>
            <a:off x="560200" y="1425925"/>
            <a:ext cx="58566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Lato"/>
              <a:buChar char="❏"/>
            </a:pPr>
            <a:r>
              <a:rPr lang="en" sz="2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Similarities in communication and co-shared tools</a:t>
            </a:r>
            <a:endParaRPr sz="2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Lato"/>
              <a:buChar char="❏"/>
            </a:pPr>
            <a:r>
              <a:rPr lang="en" sz="2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Identified gaps in communications and productivity tools</a:t>
            </a:r>
            <a:r>
              <a:rPr lang="en" sz="2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" name="Google Shape;459;p19"/>
          <p:cNvSpPr/>
          <p:nvPr/>
        </p:nvSpPr>
        <p:spPr>
          <a:xfrm rot="2125916">
            <a:off x="-325211" y="3068462"/>
            <a:ext cx="1171569" cy="1231832"/>
          </a:xfrm>
          <a:prstGeom prst="star10">
            <a:avLst>
              <a:gd fmla="val 0" name="adj"/>
              <a:gd fmla="val 105146" name="hf"/>
            </a:avLst>
          </a:prstGeom>
          <a:noFill/>
          <a:ln cap="flat" cmpd="sng" w="76200">
            <a:solidFill>
              <a:srgbClr val="438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19"/>
          <p:cNvSpPr/>
          <p:nvPr/>
        </p:nvSpPr>
        <p:spPr>
          <a:xfrm rot="7973403">
            <a:off x="7040990" y="916843"/>
            <a:ext cx="1371303" cy="1371507"/>
          </a:xfrm>
          <a:prstGeom prst="chord">
            <a:avLst>
              <a:gd fmla="val 5362655" name="adj1"/>
              <a:gd fmla="val 16200000" name="adj2"/>
            </a:avLst>
          </a:prstGeom>
          <a:solidFill>
            <a:srgbClr val="349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9"/>
          <p:cNvSpPr/>
          <p:nvPr/>
        </p:nvSpPr>
        <p:spPr>
          <a:xfrm rot="-2506880">
            <a:off x="7867290" y="74350"/>
            <a:ext cx="1371476" cy="1371476"/>
          </a:xfrm>
          <a:prstGeom prst="chord">
            <a:avLst>
              <a:gd fmla="val 5362655" name="adj1"/>
              <a:gd fmla="val 16200000" name="adj2"/>
            </a:avLst>
          </a:prstGeom>
          <a:solidFill>
            <a:srgbClr val="FF7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9"/>
          <p:cNvSpPr/>
          <p:nvPr/>
        </p:nvSpPr>
        <p:spPr>
          <a:xfrm rot="2125874">
            <a:off x="7862019" y="2605258"/>
            <a:ext cx="1558151" cy="1618833"/>
          </a:xfrm>
          <a:prstGeom prst="star10">
            <a:avLst>
              <a:gd fmla="val 0" name="adj"/>
              <a:gd fmla="val 105146" name="hf"/>
            </a:avLst>
          </a:prstGeom>
          <a:noFill/>
          <a:ln cap="flat" cmpd="sng" w="7620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"/>
          <p:cNvSpPr txBox="1"/>
          <p:nvPr>
            <p:ph idx="4294967295" type="title"/>
          </p:nvPr>
        </p:nvSpPr>
        <p:spPr>
          <a:xfrm>
            <a:off x="296475" y="232275"/>
            <a:ext cx="7030500" cy="8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Virtual Co-working &amp; Productivity Platforms:</a:t>
            </a:r>
            <a:endParaRPr sz="2620"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20"/>
          <p:cNvSpPr txBox="1"/>
          <p:nvPr>
            <p:ph idx="4294967295" type="body"/>
          </p:nvPr>
        </p:nvSpPr>
        <p:spPr>
          <a:xfrm>
            <a:off x="296475" y="1211650"/>
            <a:ext cx="8515200" cy="32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01: Web Application for Administration, Planning and Management of Studies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Details a web app designed to help students manage workload using a Pomodoro timer and task reminders — mirroring Cadence's synchronized session approach.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IEEE Citation:</a:t>
            </a:r>
            <a:endParaRPr sz="19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2024 International Conference on Emerging eLearning Technologies and Applications (ICETA), 2024.</a:t>
            </a:r>
            <a:endParaRPr i="1" sz="16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highlight>
                <a:srgbClr val="6D9EEB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highlight>
                <a:srgbClr val="6D9EEB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1"/>
          <p:cNvSpPr txBox="1"/>
          <p:nvPr>
            <p:ph idx="4294967295" type="title"/>
          </p:nvPr>
        </p:nvSpPr>
        <p:spPr>
          <a:xfrm>
            <a:off x="293700" y="374475"/>
            <a:ext cx="8502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02:</a:t>
            </a:r>
            <a:r>
              <a:rPr lang="en" sz="2500">
                <a:solidFill>
                  <a:srgbClr val="1E293B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Work Buddy – A Virtual Co-Working Experience:</a:t>
            </a:r>
            <a:endParaRPr sz="2500">
              <a:solidFill>
                <a:srgbClr val="1E293B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4" name="Google Shape;474;p21"/>
          <p:cNvSpPr txBox="1"/>
          <p:nvPr>
            <p:ph idx="4294967295" type="body"/>
          </p:nvPr>
        </p:nvSpPr>
        <p:spPr>
          <a:xfrm>
            <a:off x="263100" y="1246450"/>
            <a:ext cx="8563800" cy="31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Introduces a digital tool addressing isolation of remote work via a Pomodoro-based interval system — directly supporting Cadence's problem statement on doom-scrolling and solitary distraction.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IEEE Citation:</a:t>
            </a:r>
            <a:endParaRPr sz="19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9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UiTM Institutional Repository, 2023</a:t>
            </a:r>
            <a:endParaRPr sz="19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 txBox="1"/>
          <p:nvPr>
            <p:ph idx="4294967295" type="title"/>
          </p:nvPr>
        </p:nvSpPr>
        <p:spPr>
          <a:xfrm>
            <a:off x="220200" y="171225"/>
            <a:ext cx="86526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2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03: </a:t>
            </a:r>
            <a:r>
              <a:rPr lang="en" sz="2166">
                <a:solidFill>
                  <a:srgbClr val="1E293B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Virtually Extended Coworking Spaces? – Social Proximity, Motivation &amp; Knowledge Sharing</a:t>
            </a:r>
            <a:endParaRPr sz="2166">
              <a:solidFill>
                <a:srgbClr val="1E293B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0" name="Google Shape;480;p22"/>
          <p:cNvSpPr txBox="1"/>
          <p:nvPr>
            <p:ph idx="4294967295" type="body"/>
          </p:nvPr>
        </p:nvSpPr>
        <p:spPr>
          <a:xfrm>
            <a:off x="220200" y="1234950"/>
            <a:ext cx="86526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Validates that simply being digitally present with others can boost productivity without constant interaction — a core principle behind Cadence's room-based co-working model.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IEEE Citation:</a:t>
            </a:r>
            <a:endParaRPr sz="19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S. Hofeditz et al., Proceedings of the 24th Pacific Asia Conference on Information Systems (PACIS), 2020.</a:t>
            </a:r>
            <a:endParaRPr i="1" sz="19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"/>
          <p:cNvSpPr txBox="1"/>
          <p:nvPr>
            <p:ph idx="4294967295" type="title"/>
          </p:nvPr>
        </p:nvSpPr>
        <p:spPr>
          <a:xfrm>
            <a:off x="281225" y="201775"/>
            <a:ext cx="8652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33">
                <a:solidFill>
                  <a:srgbClr val="1E293B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04: Virtual Coworking and Remote Working:</a:t>
            </a:r>
            <a:endParaRPr sz="2833">
              <a:solidFill>
                <a:srgbClr val="1E293B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6" name="Google Shape;486;p23"/>
          <p:cNvSpPr txBox="1"/>
          <p:nvPr>
            <p:ph idx="4294967295" type="body"/>
          </p:nvPr>
        </p:nvSpPr>
        <p:spPr>
          <a:xfrm>
            <a:off x="281225" y="1201075"/>
            <a:ext cx="8652600" cy="30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Defines the boundary between remote work and virtual coworking, emphasizing community feeling and digital presence — justifying Cadence's use of 2D avatars over heavy video streaming.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IEEE Citation: </a:t>
            </a:r>
            <a:endParaRPr sz="18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"Virtual coworking and remote working," ResearchGate, 2022.</a:t>
            </a:r>
            <a:endParaRPr i="1" sz="18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"/>
          <p:cNvSpPr txBox="1"/>
          <p:nvPr>
            <p:ph idx="4294967295" type="title"/>
          </p:nvPr>
        </p:nvSpPr>
        <p:spPr>
          <a:xfrm>
            <a:off x="291600" y="201750"/>
            <a:ext cx="85608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E293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44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05:</a:t>
            </a:r>
            <a:r>
              <a:rPr lang="en" sz="2344">
                <a:solidFill>
                  <a:srgbClr val="1E293B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Real-time Task Mediation between Hybrid Workers based on Focus Monitoring</a:t>
            </a:r>
            <a:endParaRPr sz="2344">
              <a:solidFill>
                <a:srgbClr val="1E293B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92" name="Google Shape;492;p24"/>
          <p:cNvSpPr txBox="1"/>
          <p:nvPr>
            <p:ph idx="4294967295" type="body"/>
          </p:nvPr>
        </p:nvSpPr>
        <p:spPr>
          <a:xfrm>
            <a:off x="296475" y="1124725"/>
            <a:ext cx="8560800" cy="32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Proposes a real-time system to mediate tasks among distributed workers by monitoring focus states — a strong technical parallel to Cadence's live presence updates and state consistency.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IEEE Citation:</a:t>
            </a:r>
            <a:endParaRPr sz="22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"Real-time Task Mediation between Hybrid Workers based on Focus Monitoring," 2022 IEEE International Conference, 2022.</a:t>
            </a:r>
            <a:endParaRPr i="1" sz="1800">
              <a:solidFill>
                <a:srgbClr val="0B539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"/>
          <p:cNvSpPr txBox="1"/>
          <p:nvPr>
            <p:ph idx="4294967295" type="title"/>
          </p:nvPr>
        </p:nvSpPr>
        <p:spPr>
          <a:xfrm>
            <a:off x="235425" y="186475"/>
            <a:ext cx="86373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22">
                <a:solidFill>
                  <a:srgbClr val="1E293B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06: Offices After COVID-19 and Changes in Perception of Flexible Office Space:</a:t>
            </a:r>
            <a:endParaRPr sz="2744">
              <a:solidFill>
                <a:srgbClr val="1E293B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 txBox="1"/>
          <p:nvPr>
            <p:ph idx="4294967295" type="body"/>
          </p:nvPr>
        </p:nvSpPr>
        <p:spPr>
          <a:xfrm>
            <a:off x="235425" y="1353275"/>
            <a:ext cx="86373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Analyzes the post-pandemic shift in workspace perception, arguing virtual spaces must prioritize focused productivity over communication — contextualizing the market need for Cadence.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IEEE Citation:</a:t>
            </a:r>
            <a:endParaRPr sz="19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9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Sustainability, vol. 14, no. 18, p. 11158, 2022</a:t>
            </a:r>
            <a:endParaRPr sz="19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EB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"/>
          <p:cNvSpPr txBox="1"/>
          <p:nvPr>
            <p:ph idx="4294967295" type="title"/>
          </p:nvPr>
        </p:nvSpPr>
        <p:spPr>
          <a:xfrm>
            <a:off x="159100" y="341875"/>
            <a:ext cx="70305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 Existing Platforms &amp; Research Gaps:</a:t>
            </a:r>
            <a:endParaRPr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4" name="Google Shape;504;p26"/>
          <p:cNvSpPr txBox="1"/>
          <p:nvPr>
            <p:ph idx="4294967295" type="body"/>
          </p:nvPr>
        </p:nvSpPr>
        <p:spPr>
          <a:xfrm>
            <a:off x="159100" y="860625"/>
            <a:ext cx="8759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i="1" lang="en" sz="146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While several platforms have attempted to address virtual co-working, they each fall short in ways that Cadence aims to solve.</a:t>
            </a:r>
            <a:endParaRPr b="1" i="1" sz="814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5" name="Google Shape;505;p26"/>
          <p:cNvSpPr txBox="1"/>
          <p:nvPr/>
        </p:nvSpPr>
        <p:spPr>
          <a:xfrm>
            <a:off x="159100" y="1489575"/>
            <a:ext cx="84729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>
                <a:highlight>
                  <a:srgbClr val="FFFAF0"/>
                </a:highlight>
                <a:latin typeface="Lato"/>
                <a:ea typeface="Lato"/>
                <a:cs typeface="Lato"/>
                <a:sym typeface="Lato"/>
              </a:rPr>
              <a:t>Platform : </a:t>
            </a:r>
            <a:r>
              <a:rPr b="1" i="1" lang="en">
                <a:highlight>
                  <a:srgbClr val="FFFAF0"/>
                </a:highlight>
                <a:latin typeface="Lato"/>
                <a:ea typeface="Lato"/>
                <a:cs typeface="Lato"/>
                <a:sym typeface="Lato"/>
              </a:rPr>
              <a:t>On-Together</a:t>
            </a:r>
            <a:endParaRPr b="1" i="1">
              <a:highlight>
                <a:srgbClr val="FFFAF0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What is it?  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Virtual Coworking (Steam, 2025) was the primary inspiration for Cadence. It is a digital third space designed to help users focus and stay connected, featuring customisable Pomodoro timers, to-do lists, and 2D avatars that sit together in a shared virtual workspace.</a:t>
            </a:r>
            <a:r>
              <a:rPr lang="en"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/>
              </a:rPr>
              <a:t> </a:t>
            </a:r>
            <a:r>
              <a:rPr lang="en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Steam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Identified Gaps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On-Together is built as a standalone desktop game on Steam, meaning it requires a separate application download and is not accessible through a web browser. It also lacks community-building features like friend systems, chat rooms, and user profiles — limiting its use as a collaborative academic tool.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EB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7"/>
          <p:cNvSpPr txBox="1"/>
          <p:nvPr>
            <p:ph idx="4294967295" type="title"/>
          </p:nvPr>
        </p:nvSpPr>
        <p:spPr>
          <a:xfrm>
            <a:off x="159100" y="341875"/>
            <a:ext cx="70305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 Existing Platforms &amp; Research Gaps:</a:t>
            </a:r>
            <a:endParaRPr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159100" y="1018525"/>
            <a:ext cx="84729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500">
                <a:highlight>
                  <a:srgbClr val="FFFAF0"/>
                </a:highlight>
                <a:latin typeface="Lato"/>
                <a:ea typeface="Lato"/>
                <a:cs typeface="Lato"/>
                <a:sym typeface="Lato"/>
              </a:rPr>
              <a:t>Platform : Discord</a:t>
            </a:r>
            <a:endParaRPr b="1" i="1" sz="1500">
              <a:highlight>
                <a:srgbClr val="FFFAF0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Lato"/>
                <a:ea typeface="Lato"/>
                <a:cs typeface="Lato"/>
                <a:sym typeface="Lato"/>
              </a:rPr>
              <a:t>What is it?  </a:t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Discord is a real-time communication platform. It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was originally designed for gaming communication but has since been widely adopted by students for virtual study sessions through voice channels and screen sharing.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ato"/>
                <a:ea typeface="Lato"/>
                <a:cs typeface="Lato"/>
                <a:sym typeface="Lato"/>
              </a:rPr>
              <a:t>Identified Gaps</a:t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However, it lacks any built-in productivity structure — there is no Pomodoro timer, task management, or focus-state awareness. Users must rely on third-party bots and plugins, creating a fragmented experience that prioritizes communication over focused work.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EB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"/>
          <p:cNvSpPr txBox="1"/>
          <p:nvPr/>
        </p:nvSpPr>
        <p:spPr>
          <a:xfrm>
            <a:off x="547450" y="331025"/>
            <a:ext cx="6085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7" name="Google Shape;517;p28"/>
          <p:cNvSpPr txBox="1"/>
          <p:nvPr/>
        </p:nvSpPr>
        <p:spPr>
          <a:xfrm>
            <a:off x="318275" y="267350"/>
            <a:ext cx="73206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Research Gaps</a:t>
            </a:r>
            <a:endParaRPr b="1" sz="4000">
              <a:solidFill>
                <a:schemeClr val="dk2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28"/>
          <p:cNvSpPr txBox="1"/>
          <p:nvPr/>
        </p:nvSpPr>
        <p:spPr>
          <a:xfrm>
            <a:off x="318275" y="1559975"/>
            <a:ext cx="4977900" cy="15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is it?</a:t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Focusmate: a virtual co-working service that pairs users with a random accountability partner for 50-minute sessions over video.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28"/>
          <p:cNvSpPr txBox="1"/>
          <p:nvPr/>
        </p:nvSpPr>
        <p:spPr>
          <a:xfrm>
            <a:off x="318275" y="1095050"/>
            <a:ext cx="4621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highlight>
                  <a:srgbClr val="FFFAF0"/>
                </a:highlight>
                <a:latin typeface="Lato"/>
                <a:ea typeface="Lato"/>
                <a:cs typeface="Lato"/>
                <a:sym typeface="Lato"/>
              </a:rPr>
              <a:t>Platform: Focusmate</a:t>
            </a:r>
            <a:endParaRPr b="1" i="1">
              <a:solidFill>
                <a:schemeClr val="dk2"/>
              </a:solidFill>
              <a:highlight>
                <a:srgbClr val="FFFAF0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0" name="Google Shape;5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900" y="222575"/>
            <a:ext cx="1081051" cy="11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8"/>
          <p:cNvSpPr txBox="1"/>
          <p:nvPr/>
        </p:nvSpPr>
        <p:spPr>
          <a:xfrm>
            <a:off x="318275" y="2811894"/>
            <a:ext cx="479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Addresses isolation of remote work similar to Cadence by introducing concept of ‘body-doubling’ - working is presence of others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5296275" y="1470650"/>
            <a:ext cx="3275100" cy="24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Identified Gaps: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Rigid structure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Primarily random matches with other users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One-on-one sessions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added features to help with productivity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EB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"/>
          <p:cNvSpPr txBox="1"/>
          <p:nvPr/>
        </p:nvSpPr>
        <p:spPr>
          <a:xfrm>
            <a:off x="547450" y="331025"/>
            <a:ext cx="6085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p29"/>
          <p:cNvSpPr txBox="1"/>
          <p:nvPr/>
        </p:nvSpPr>
        <p:spPr>
          <a:xfrm>
            <a:off x="318275" y="267350"/>
            <a:ext cx="73206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Research Gaps</a:t>
            </a:r>
            <a:endParaRPr b="1" sz="4000">
              <a:solidFill>
                <a:schemeClr val="dk2"/>
              </a:solidFill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318275" y="1559975"/>
            <a:ext cx="47997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is it?</a:t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Forest is a Pomodoro-based productivity app that was designed to help users maintain focus through a gamified functionality.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" name="Google Shape;530;p29"/>
          <p:cNvSpPr txBox="1"/>
          <p:nvPr/>
        </p:nvSpPr>
        <p:spPr>
          <a:xfrm>
            <a:off x="318275" y="1095050"/>
            <a:ext cx="4621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highlight>
                  <a:srgbClr val="FFFAF0"/>
                </a:highlight>
                <a:latin typeface="Lato"/>
                <a:ea typeface="Lato"/>
                <a:cs typeface="Lato"/>
                <a:sym typeface="Lato"/>
              </a:rPr>
              <a:t>Platform: Forest App</a:t>
            </a:r>
            <a:endParaRPr b="1" i="1" sz="1500">
              <a:solidFill>
                <a:schemeClr val="dk2"/>
              </a:solidFill>
              <a:highlight>
                <a:srgbClr val="FFFAF0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31" name="Google Shape;5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900" y="222575"/>
            <a:ext cx="1081051" cy="11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9"/>
          <p:cNvSpPr txBox="1"/>
          <p:nvPr/>
        </p:nvSpPr>
        <p:spPr>
          <a:xfrm>
            <a:off x="318275" y="2750000"/>
            <a:ext cx="4799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Users plant virtual trees at the start of a focus session, which grows only if the user avoid using their phone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Promotes sustained 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individual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focus by discouraging phone use.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5296275" y="1470650"/>
            <a:ext cx="32751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Identified Gaps:</a:t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Individual user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experience so fewer accountability systems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Self-regulated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App includes paid features which discourages users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Analytics, cloud sync land collaborative features locked behind paywalls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EB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"/>
          <p:cNvSpPr txBox="1"/>
          <p:nvPr>
            <p:ph idx="4294967295" type="title"/>
          </p:nvPr>
        </p:nvSpPr>
        <p:spPr>
          <a:xfrm>
            <a:off x="128600" y="171225"/>
            <a:ext cx="70305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Research Gap:</a:t>
            </a:r>
            <a:endParaRPr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9" name="Google Shape;539;p30"/>
          <p:cNvSpPr txBox="1"/>
          <p:nvPr>
            <p:ph idx="4294967295" type="body"/>
          </p:nvPr>
        </p:nvSpPr>
        <p:spPr>
          <a:xfrm>
            <a:off x="128600" y="799550"/>
            <a:ext cx="8866200" cy="3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Lato"/>
                <a:ea typeface="Lato"/>
                <a:cs typeface="Lato"/>
                <a:sym typeface="Lato"/>
              </a:rPr>
              <a:t>These platforms reveal a clear gap — there is no dedicated web-based tool that combines:</a:t>
            </a:r>
            <a:endParaRPr i="1" sz="1700"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Lato"/>
              <a:buChar char="➔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 Real-time co-presence with 2D avatars (like On-Together)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➔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Structured Pomodoro-based productivity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➔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Task management and focus tracking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➔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Community features — friends, profiles, chat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➔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Accessible via browser, no download required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Cadence addresses this gap by merging the social presence of On-Together with community and productivity features in a fully web-based platform designed specifically for students.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1"/>
          <p:cNvSpPr txBox="1"/>
          <p:nvPr>
            <p:ph idx="4294967295" type="title"/>
          </p:nvPr>
        </p:nvSpPr>
        <p:spPr>
          <a:xfrm>
            <a:off x="264550" y="217025"/>
            <a:ext cx="7030500" cy="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highlight>
                  <a:srgbClr val="FFFAF0"/>
                </a:highlight>
                <a:latin typeface="Outfit"/>
                <a:ea typeface="Outfit"/>
                <a:cs typeface="Outfit"/>
                <a:sym typeface="Outfit"/>
              </a:rPr>
              <a:t>Conclusion:</a:t>
            </a:r>
            <a:endParaRPr sz="2820">
              <a:highlight>
                <a:srgbClr val="FFFAF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5" name="Google Shape;545;p31"/>
          <p:cNvSpPr txBox="1"/>
          <p:nvPr>
            <p:ph idx="4294967295" type="body"/>
          </p:nvPr>
        </p:nvSpPr>
        <p:spPr>
          <a:xfrm>
            <a:off x="222150" y="942125"/>
            <a:ext cx="8699700" cy="363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literature confirms that virtual co-presence and Pomodoro-based structure meaningfully boost student productivity.</a:t>
            </a:r>
            <a:endParaRPr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Existing platforms like On-Together and Discord address parts of the problem but leave a clear gap.</a:t>
            </a:r>
            <a:endParaRPr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Cadence uniquely combines real-time co-presence, structured productivity, and community features in a single browser-based platform.</a:t>
            </a:r>
            <a:endParaRPr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This literature provides strong academic justification for every major design decision in Cadence.</a:t>
            </a:r>
            <a:endParaRPr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